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5EC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0"/>
            <a:ext cx="9144000" cy="73152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1120000">
            <a:off x="6035040" y="-640080"/>
            <a:ext cx="4206240" cy="173736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defRPr sz="3600" b="1">
                <a:solidFill>
                  <a:srgbClr val="FFFFFF"/>
                </a:solidFill>
                <a:latin typeface="Montserrat"/>
              </a:defRPr>
            </a:pPr>
            <a:r>
              <a:t>ГАЗОПОРШНЕВЫЕ ЭЛЕКТРОСТАНЦИИ(ГПУ/ГПЭС)</a:t>
            </a:r>
            <a:br/>
            <a:r>
              <a:t>СОБСТВЕННАЯ ГЕНЕРАЦИЯ ЭЛЕКТРОЭНЕРГИИ И ТЕПЛА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4028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1600" b="0">
                <a:solidFill>
                  <a:srgbClr val="C2C2C2"/>
                </a:solidFill>
                <a:latin typeface="Inter"/>
              </a:defRPr>
            </a:pPr>
            <a:r>
              <a:t>ПОНЯТНОЕ РЕШЕНИЕ ДЛЯ БИЗНЕСА, ПРОМЫШЛЕННОСТИ И ИНФРАСТРУКТУРЫ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188720"/>
            <a:ext cx="283464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0" y="1188720"/>
            <a:ext cx="109728" cy="228600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1888" y="1827175"/>
            <a:ext cx="2359152" cy="100909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786884"/>
            <a:ext cx="7772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1000" b="0">
                <a:solidFill>
                  <a:srgbClr val="C2C2C2"/>
                </a:solidFill>
                <a:latin typeface="Inter"/>
              </a:defRPr>
            </a:pPr>
            <a:r>
              <a:t>Москва, 2-й Кабельный проезд, 2А | @asgardchanel | +7 (800) 550-07-32 | +7 (916) 772-19-84 | info@asg-ard.ru | asg-mining.ru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0"/>
            <a:ext cx="9144000" cy="73152"/>
          </a:xfrm>
          <a:prstGeom prst="rect">
            <a:avLst/>
          </a:prstGeom>
          <a:solidFill>
            <a:srgbClr val="5EC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1120000">
            <a:off x="6035040" y="-640080"/>
            <a:ext cx="4206240" cy="1737360"/>
          </a:xfrm>
          <a:prstGeom prst="rect">
            <a:avLst/>
          </a:prstGeom>
          <a:solidFill>
            <a:srgbClr val="5EC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288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3000" b="1">
                <a:solidFill>
                  <a:srgbClr val="FFFFFF"/>
                </a:solidFill>
                <a:latin typeface="Montserrat"/>
              </a:defRPr>
            </a:pPr>
            <a:r>
              <a:t>ПОЧЕМУ БИЗНЕСУ НУЖНА СОБСТВЕННАЯ ГЕНЕРАЦИЯ?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932688"/>
            <a:ext cx="2377440" cy="73152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7772400" cy="32964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325880"/>
            <a:ext cx="109728" cy="3296412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1554480"/>
            <a:ext cx="711403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1600" b="0">
                <a:solidFill>
                  <a:srgbClr val="0A0A0A"/>
                </a:solidFill>
                <a:latin typeface="Inter"/>
              </a:defRPr>
            </a:pPr>
            <a:r>
              <a:t>Сегодня компании сталкиваются с одними и теми же проблемами: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2039112"/>
            <a:ext cx="7114032" cy="1760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1600" b="0">
                <a:solidFill>
                  <a:srgbClr val="0A0A0A"/>
                </a:solidFill>
                <a:latin typeface="Inter"/>
              </a:defRPr>
            </a:pPr>
            <a:r>
              <a:t>• Рост тарифов на электроэнергию более 15% в 2025 году;</a:t>
            </a:r>
          </a:p>
          <a:p>
            <a:pPr algn="l">
              <a:lnSpc>
                <a:spcPct val="110000"/>
              </a:lnSpc>
              <a:defRPr sz="1600" b="0">
                <a:solidFill>
                  <a:srgbClr val="0A0A0A"/>
                </a:solidFill>
                <a:latin typeface="Inter"/>
              </a:defRPr>
            </a:pPr>
            <a:r>
              <a:t>• Дефицит доступной мощности от сетей;</a:t>
            </a:r>
          </a:p>
          <a:p>
            <a:pPr algn="l">
              <a:lnSpc>
                <a:spcPct val="110000"/>
              </a:lnSpc>
              <a:defRPr sz="1600" b="0">
                <a:solidFill>
                  <a:srgbClr val="0A0A0A"/>
                </a:solidFill>
                <a:latin typeface="Inter"/>
              </a:defRPr>
            </a:pPr>
            <a:r>
              <a:t>• Высокая стоимость резервного питания;</a:t>
            </a:r>
          </a:p>
          <a:p>
            <a:pPr algn="l">
              <a:lnSpc>
                <a:spcPct val="110000"/>
              </a:lnSpc>
              <a:defRPr sz="1600" b="0">
                <a:solidFill>
                  <a:srgbClr val="0A0A0A"/>
                </a:solidFill>
                <a:latin typeface="Inter"/>
              </a:defRPr>
            </a:pPr>
            <a:r>
              <a:t>• Перебои, ограничения и аварийные отключения, а также простои и прямые убытки;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69848" y="3845052"/>
            <a:ext cx="7114032" cy="548640"/>
          </a:xfrm>
          <a:prstGeom prst="roundRect">
            <a:avLst/>
          </a:prstGeom>
          <a:solidFill>
            <a:srgbClr val="5EC062"/>
          </a:solidFill>
          <a:ln>
            <a:solidFill>
              <a:srgbClr val="5EC0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Вывод: Электроэнергия становится стратегическим ресурсом бизнеса.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5EC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0"/>
            <a:ext cx="9144000" cy="73152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1120000">
            <a:off x="6035040" y="-640080"/>
            <a:ext cx="4206240" cy="173736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288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3000" b="1">
                <a:solidFill>
                  <a:srgbClr val="FFFFFF"/>
                </a:solidFill>
                <a:latin typeface="Montserrat"/>
              </a:defRPr>
            </a:pPr>
            <a:r>
              <a:t>ЧТО ТАКОЕ ГПУ/ГПЭС - ПРОСТЫМИ СЛОВАМИ?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932688"/>
            <a:ext cx="2377440" cy="73152"/>
          </a:xfrm>
          <a:prstGeom prst="rect">
            <a:avLst/>
          </a:prstGeom>
          <a:solidFill>
            <a:srgbClr val="5EC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7772400" cy="32964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325880"/>
            <a:ext cx="109728" cy="3296412"/>
          </a:xfrm>
          <a:prstGeom prst="rect">
            <a:avLst/>
          </a:prstGeom>
          <a:solidFill>
            <a:srgbClr val="5EC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1554480"/>
            <a:ext cx="711403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1600" b="0">
                <a:solidFill>
                  <a:srgbClr val="0A0A0A"/>
                </a:solidFill>
                <a:latin typeface="Inter"/>
              </a:defRPr>
            </a:pPr>
            <a:r>
              <a:t>Газопоршневая установка - это электростанция, которая: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2039112"/>
            <a:ext cx="7114032" cy="1760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1600" b="0">
                <a:solidFill>
                  <a:srgbClr val="0A0A0A"/>
                </a:solidFill>
                <a:latin typeface="Inter"/>
              </a:defRPr>
            </a:pPr>
            <a:r>
              <a:t>• Работает на газе;</a:t>
            </a:r>
          </a:p>
          <a:p>
            <a:pPr algn="l">
              <a:lnSpc>
                <a:spcPct val="110000"/>
              </a:lnSpc>
              <a:defRPr sz="1600" b="0">
                <a:solidFill>
                  <a:srgbClr val="0A0A0A"/>
                </a:solidFill>
                <a:latin typeface="Inter"/>
              </a:defRPr>
            </a:pPr>
            <a:r>
              <a:t>• Производит электроэнергию прямо на объекте;</a:t>
            </a:r>
          </a:p>
          <a:p>
            <a:pPr algn="l">
              <a:lnSpc>
                <a:spcPct val="110000"/>
              </a:lnSpc>
              <a:defRPr sz="1600" b="0">
                <a:solidFill>
                  <a:srgbClr val="0A0A0A"/>
                </a:solidFill>
                <a:latin typeface="Inter"/>
              </a:defRPr>
            </a:pPr>
            <a:r>
              <a:t>• Дополнительно дает полезное тепло;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69848" y="3845052"/>
            <a:ext cx="7114032" cy="548640"/>
          </a:xfrm>
          <a:prstGeom prst="roundRect">
            <a:avLst/>
          </a:prstGeom>
          <a:solidFill>
            <a:srgbClr val="0097A7"/>
          </a:solidFill>
          <a:ln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ГАЗ → ДВИГАТЕЛЬ → ЭЛЕКТРИЧЕСТВО → ТЕПЛО → ЭКОНОМИЯ ДО 70%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0"/>
            <a:ext cx="9144000" cy="73152"/>
          </a:xfrm>
          <a:prstGeom prst="rect">
            <a:avLst/>
          </a:prstGeom>
          <a:solidFill>
            <a:srgbClr val="5EC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1120000">
            <a:off x="6035040" y="-640080"/>
            <a:ext cx="4206240" cy="1737360"/>
          </a:xfrm>
          <a:prstGeom prst="rect">
            <a:avLst/>
          </a:prstGeom>
          <a:solidFill>
            <a:srgbClr val="5EC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288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3000" b="1">
                <a:solidFill>
                  <a:srgbClr val="FFFFFF"/>
                </a:solidFill>
                <a:latin typeface="Montserrat"/>
              </a:defRPr>
            </a:pPr>
            <a:r>
              <a:t>КАК РАБОТАЕТ ГПУ?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932688"/>
            <a:ext cx="2377440" cy="73152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7772400" cy="32964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325880"/>
            <a:ext cx="109728" cy="3296412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1554480"/>
            <a:ext cx="7114032" cy="22448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1600" b="0">
                <a:solidFill>
                  <a:srgbClr val="0A0A0A"/>
                </a:solidFill>
                <a:latin typeface="Inter"/>
              </a:defRPr>
            </a:pPr>
            <a:r>
              <a:t>• Газ поступает в двигатель;</a:t>
            </a:r>
          </a:p>
          <a:p>
            <a:pPr algn="l">
              <a:lnSpc>
                <a:spcPct val="110000"/>
              </a:lnSpc>
              <a:defRPr sz="1600" b="0">
                <a:solidFill>
                  <a:srgbClr val="0A0A0A"/>
                </a:solidFill>
                <a:latin typeface="Inter"/>
              </a:defRPr>
            </a:pPr>
            <a:r>
              <a:t>• Двигатель вращает генератор;</a:t>
            </a:r>
          </a:p>
          <a:p>
            <a:pPr algn="l">
              <a:lnSpc>
                <a:spcPct val="110000"/>
              </a:lnSpc>
              <a:defRPr sz="1600" b="0">
                <a:solidFill>
                  <a:srgbClr val="0A0A0A"/>
                </a:solidFill>
                <a:latin typeface="Inter"/>
              </a:defRPr>
            </a:pPr>
            <a:r>
              <a:t>• Генератор вырабатывает электроэнергию;</a:t>
            </a:r>
          </a:p>
          <a:p>
            <a:pPr algn="l">
              <a:lnSpc>
                <a:spcPct val="110000"/>
              </a:lnSpc>
              <a:defRPr sz="1600" b="0">
                <a:solidFill>
                  <a:srgbClr val="0A0A0A"/>
                </a:solidFill>
                <a:latin typeface="Inter"/>
              </a:defRPr>
            </a:pPr>
            <a:r>
              <a:t>• Тепло используется для отопления или технологических процессов;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69848" y="3845052"/>
            <a:ext cx="7114032" cy="548640"/>
          </a:xfrm>
          <a:prstGeom prst="roundRect">
            <a:avLst/>
          </a:prstGeom>
          <a:solidFill>
            <a:srgbClr val="5EC062"/>
          </a:solidFill>
          <a:ln>
            <a:solidFill>
              <a:srgbClr val="5EC0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ВАЖНО ТО, ЧТО ГПУ МОЖЕТ РАБОТАТЬ КРУГЛОСУТОЧНО, ГОДАМИ, В ПРОМЫШЛЕННОМ РЕЖИМЕ.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5EC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0"/>
            <a:ext cx="9144000" cy="73152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1120000">
            <a:off x="6035040" y="-640080"/>
            <a:ext cx="4206240" cy="173736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288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3000" b="1">
                <a:solidFill>
                  <a:srgbClr val="FFFFFF"/>
                </a:solidFill>
                <a:latin typeface="Montserrat"/>
              </a:defRPr>
            </a:pPr>
            <a:r>
              <a:t>КАК РАБОТАЕТ ГПУ?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932688"/>
            <a:ext cx="2377440" cy="73152"/>
          </a:xfrm>
          <a:prstGeom prst="rect">
            <a:avLst/>
          </a:prstGeom>
          <a:solidFill>
            <a:srgbClr val="5EC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7772400" cy="32964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325880"/>
            <a:ext cx="109728" cy="3296412"/>
          </a:xfrm>
          <a:prstGeom prst="rect">
            <a:avLst/>
          </a:prstGeom>
          <a:solidFill>
            <a:srgbClr val="5EC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6412" y="1554480"/>
            <a:ext cx="5060904" cy="283921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0"/>
            <a:ext cx="9144000" cy="73152"/>
          </a:xfrm>
          <a:prstGeom prst="rect">
            <a:avLst/>
          </a:prstGeom>
          <a:solidFill>
            <a:srgbClr val="5EC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1120000">
            <a:off x="6035040" y="-640080"/>
            <a:ext cx="4206240" cy="1737360"/>
          </a:xfrm>
          <a:prstGeom prst="rect">
            <a:avLst/>
          </a:prstGeom>
          <a:solidFill>
            <a:srgbClr val="5EC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288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3000" b="1">
                <a:solidFill>
                  <a:srgbClr val="FFFFFF"/>
                </a:solidFill>
                <a:latin typeface="Montserrat"/>
              </a:defRPr>
            </a:pPr>
            <a:r>
              <a:t>ЧТО ДАЕТ ГПУ ЗАКАЗЧИКУ?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932688"/>
            <a:ext cx="2377440" cy="73152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3726180" cy="32964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325880"/>
            <a:ext cx="109728" cy="3296412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732020" y="1325880"/>
            <a:ext cx="3726180" cy="32964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32020" y="1325880"/>
            <a:ext cx="109728" cy="3296412"/>
          </a:xfrm>
          <a:prstGeom prst="rect">
            <a:avLst/>
          </a:prstGeom>
          <a:solidFill>
            <a:srgbClr val="5EC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1554480"/>
            <a:ext cx="3067812" cy="2839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1600" b="0">
                <a:solidFill>
                  <a:srgbClr val="0A0A0A"/>
                </a:solidFill>
                <a:latin typeface="Inter"/>
              </a:defRPr>
            </a:pPr>
            <a:r>
              <a:t>• Электроэнергия дешевле сети до 70%</a:t>
            </a:r>
          </a:p>
          <a:p>
            <a:pPr algn="l">
              <a:lnSpc>
                <a:spcPct val="110000"/>
              </a:lnSpc>
              <a:defRPr sz="1600" b="0">
                <a:solidFill>
                  <a:srgbClr val="0A0A0A"/>
                </a:solidFill>
                <a:latin typeface="Inter"/>
              </a:defRPr>
            </a:pPr>
            <a:r>
              <a:t>• Независимость от ограничений и аварий</a:t>
            </a:r>
          </a:p>
          <a:p>
            <a:pPr algn="l">
              <a:lnSpc>
                <a:spcPct val="110000"/>
              </a:lnSpc>
              <a:defRPr sz="1600" b="0">
                <a:solidFill>
                  <a:srgbClr val="0A0A0A"/>
                </a:solidFill>
                <a:latin typeface="Inter"/>
              </a:defRPr>
            </a:pPr>
            <a:r>
              <a:t>• Предсказуемая экономика</a:t>
            </a:r>
          </a:p>
          <a:p>
            <a:pPr algn="l">
              <a:lnSpc>
                <a:spcPct val="110000"/>
              </a:lnSpc>
              <a:defRPr sz="1600" b="0">
                <a:solidFill>
                  <a:srgbClr val="0A0A0A"/>
                </a:solidFill>
                <a:latin typeface="Inter"/>
              </a:defRPr>
            </a:pPr>
            <a:r>
              <a:t>• Возможность масштабирования</a:t>
            </a:r>
          </a:p>
          <a:p>
            <a:pPr algn="l">
              <a:lnSpc>
                <a:spcPct val="110000"/>
              </a:lnSpc>
              <a:defRPr sz="1600" b="0">
                <a:solidFill>
                  <a:srgbClr val="0A0A0A"/>
                </a:solidFill>
                <a:latin typeface="Inter"/>
              </a:defRPr>
            </a:pPr>
            <a:r>
              <a:t>• Использование тепла - экономия до 50%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69848" y="3845052"/>
            <a:ext cx="3067812" cy="548640"/>
          </a:xfrm>
          <a:prstGeom prst="roundRect">
            <a:avLst/>
          </a:prstGeom>
          <a:solidFill>
            <a:srgbClr val="0097A7"/>
          </a:solidFill>
          <a:ln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ГПУ ЭТО НЕ ОБОРУДОВАНИЕ - ЭТО ИНСТРУМЕНТ УПРАВЛЕНИЯ ЭНЕРГИЕЙ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6068" y="1951482"/>
            <a:ext cx="3067812" cy="20452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5EC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0"/>
            <a:ext cx="9144000" cy="73152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1120000">
            <a:off x="6035040" y="-640080"/>
            <a:ext cx="4206240" cy="173736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288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3000" b="1">
                <a:solidFill>
                  <a:srgbClr val="FFFFFF"/>
                </a:solidFill>
                <a:latin typeface="Montserrat"/>
              </a:defRPr>
            </a:pPr>
            <a:r>
              <a:t>ЭНЕРГОЦЕНТР - ЭТО СИСТЕМА, А НЕ ОДНА УСТАНОВКА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932688"/>
            <a:ext cx="2377440" cy="73152"/>
          </a:xfrm>
          <a:prstGeom prst="rect">
            <a:avLst/>
          </a:prstGeom>
          <a:solidFill>
            <a:srgbClr val="5EC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7772400" cy="32964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325880"/>
            <a:ext cx="109728" cy="3296412"/>
          </a:xfrm>
          <a:prstGeom prst="rect">
            <a:avLst/>
          </a:prstGeom>
          <a:solidFill>
            <a:srgbClr val="5EC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1554480"/>
            <a:ext cx="7114032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1600" b="0">
                <a:solidFill>
                  <a:srgbClr val="0A0A0A"/>
                </a:solidFill>
                <a:latin typeface="Inter"/>
              </a:defRPr>
            </a:pPr>
            <a:r>
              <a:t>Энергоцентр может состоять:</a:t>
            </a:r>
          </a:p>
          <a:p>
            <a:pPr algn="l">
              <a:lnSpc>
                <a:spcPct val="110000"/>
              </a:lnSpc>
              <a:defRPr sz="1600" b="0">
                <a:solidFill>
                  <a:srgbClr val="0A0A0A"/>
                </a:solidFill>
                <a:latin typeface="Inter"/>
              </a:defRPr>
            </a:pPr>
            <a:r>
              <a:t>Выбор зависит от: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2295144"/>
            <a:ext cx="7114032" cy="2052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1600" b="0">
                <a:solidFill>
                  <a:srgbClr val="0A0A0A"/>
                </a:solidFill>
                <a:latin typeface="Inter"/>
              </a:defRPr>
            </a:pPr>
            <a:r>
              <a:t>• Из нескольких установок меньшей мощности;</a:t>
            </a:r>
          </a:p>
          <a:p>
            <a:pPr algn="l">
              <a:lnSpc>
                <a:spcPct val="110000"/>
              </a:lnSpc>
              <a:defRPr sz="1600" b="0">
                <a:solidFill>
                  <a:srgbClr val="0A0A0A"/>
                </a:solidFill>
                <a:latin typeface="Inter"/>
              </a:defRPr>
            </a:pPr>
            <a:r>
              <a:t>• Из меньшего количества крупных установок;</a:t>
            </a:r>
          </a:p>
          <a:p>
            <a:pPr algn="l">
              <a:lnSpc>
                <a:spcPct val="110000"/>
              </a:lnSpc>
              <a:defRPr sz="1600" b="0">
                <a:solidFill>
                  <a:srgbClr val="0A0A0A"/>
                </a:solidFill>
                <a:latin typeface="Inter"/>
              </a:defRPr>
            </a:pPr>
            <a:r>
              <a:t>• Режима работы и надежности;</a:t>
            </a:r>
          </a:p>
          <a:p>
            <a:pPr algn="l">
              <a:lnSpc>
                <a:spcPct val="110000"/>
              </a:lnSpc>
              <a:defRPr sz="1600" b="0">
                <a:solidFill>
                  <a:srgbClr val="0A0A0A"/>
                </a:solidFill>
                <a:latin typeface="Inter"/>
              </a:defRPr>
            </a:pPr>
            <a:r>
              <a:t>• Экономики и удобства обслуживания;</a:t>
            </a:r>
          </a:p>
          <a:p>
            <a:pPr algn="l">
              <a:lnSpc>
                <a:spcPct val="110000"/>
              </a:lnSpc>
              <a:defRPr sz="1600" b="0">
                <a:solidFill>
                  <a:srgbClr val="0A0A0A"/>
                </a:solidFill>
                <a:latin typeface="Inter"/>
              </a:defRPr>
            </a:pPr>
            <a:r>
              <a:t>• Универсального варианта не существует!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0"/>
            <a:ext cx="9144000" cy="73152"/>
          </a:xfrm>
          <a:prstGeom prst="rect">
            <a:avLst/>
          </a:prstGeom>
          <a:solidFill>
            <a:srgbClr val="5EC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1120000">
            <a:off x="6035040" y="-640080"/>
            <a:ext cx="4206240" cy="1737360"/>
          </a:xfrm>
          <a:prstGeom prst="rect">
            <a:avLst/>
          </a:prstGeom>
          <a:solidFill>
            <a:srgbClr val="5EC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288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3000" b="1">
                <a:solidFill>
                  <a:srgbClr val="FFFFFF"/>
                </a:solidFill>
                <a:latin typeface="Montserrat"/>
              </a:defRPr>
            </a:pPr>
            <a:r>
              <a:t>РЕЖИМЫ РАБОТЫ ГПУ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932688"/>
            <a:ext cx="2377440" cy="73152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3726180" cy="32964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325880"/>
            <a:ext cx="109728" cy="3296412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732020" y="1325880"/>
            <a:ext cx="3726180" cy="32964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32020" y="1325880"/>
            <a:ext cx="109728" cy="3296412"/>
          </a:xfrm>
          <a:prstGeom prst="rect">
            <a:avLst/>
          </a:prstGeom>
          <a:solidFill>
            <a:srgbClr val="5EC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1554480"/>
            <a:ext cx="3067812" cy="2839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1600" b="0">
                <a:solidFill>
                  <a:srgbClr val="0A0A0A"/>
                </a:solidFill>
                <a:latin typeface="Inter"/>
              </a:defRPr>
            </a:pPr>
            <a:r>
              <a:t>• Таблица: режимы эксплуатации газопоршневых установок</a:t>
            </a:r>
          </a:p>
          <a:p>
            <a:pPr algn="l">
              <a:lnSpc>
                <a:spcPct val="110000"/>
              </a:lnSpc>
              <a:defRPr sz="1600" b="0">
                <a:solidFill>
                  <a:srgbClr val="0A0A0A"/>
                </a:solidFill>
                <a:latin typeface="Inter"/>
              </a:defRPr>
            </a:pPr>
            <a:r>
              <a:t>• Для круглосуточной и многолетней эксплуатации используются ГПУ, рассчитанные на режим COP (Continuous Operating Power).</a:t>
            </a:r>
          </a:p>
          <a:p>
            <a:pPr algn="l">
              <a:lnSpc>
                <a:spcPct val="110000"/>
              </a:lnSpc>
              <a:defRPr sz="1600" b="0">
                <a:solidFill>
                  <a:srgbClr val="0A0A0A"/>
                </a:solidFill>
                <a:latin typeface="Inter"/>
              </a:defRPr>
            </a:pPr>
            <a:r>
              <a:t>• Возможность работы в COP определяется конструкцией установки, а не ее мощностью.</a:t>
            </a:r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6068" y="2380947"/>
            <a:ext cx="3067812" cy="118627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5EC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0"/>
            <a:ext cx="9144000" cy="73152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1120000">
            <a:off x="6035040" y="-640080"/>
            <a:ext cx="4206240" cy="173736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288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3000" b="1">
                <a:solidFill>
                  <a:srgbClr val="FFFFFF"/>
                </a:solidFill>
                <a:latin typeface="Montserrat"/>
              </a:defRPr>
            </a:pPr>
            <a:r>
              <a:t>ИЗ ЧЕГО СОСТОИТ ГПУ?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932688"/>
            <a:ext cx="2377440" cy="73152"/>
          </a:xfrm>
          <a:prstGeom prst="rect">
            <a:avLst/>
          </a:prstGeom>
          <a:solidFill>
            <a:srgbClr val="5EC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3726180" cy="32964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325880"/>
            <a:ext cx="109728" cy="3296412"/>
          </a:xfrm>
          <a:prstGeom prst="rect">
            <a:avLst/>
          </a:prstGeom>
          <a:solidFill>
            <a:srgbClr val="5EC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732020" y="1325880"/>
            <a:ext cx="3726180" cy="32964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32020" y="1325880"/>
            <a:ext cx="109728" cy="3296412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1554480"/>
            <a:ext cx="3067812" cy="2839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1600" b="0">
                <a:solidFill>
                  <a:srgbClr val="0A0A0A"/>
                </a:solidFill>
                <a:latin typeface="Inter"/>
              </a:defRPr>
            </a:pPr>
            <a:r>
              <a:t>• Газовый контейнер</a:t>
            </a:r>
          </a:p>
          <a:p>
            <a:pPr algn="l">
              <a:lnSpc>
                <a:spcPct val="110000"/>
              </a:lnSpc>
              <a:defRPr sz="1600" b="0">
                <a:solidFill>
                  <a:srgbClr val="0A0A0A"/>
                </a:solidFill>
                <a:latin typeface="Inter"/>
              </a:defRPr>
            </a:pPr>
            <a:r>
              <a:t>• Генератор</a:t>
            </a:r>
          </a:p>
          <a:p>
            <a:pPr algn="l">
              <a:lnSpc>
                <a:spcPct val="110000"/>
              </a:lnSpc>
              <a:defRPr sz="1600" b="0">
                <a:solidFill>
                  <a:srgbClr val="0A0A0A"/>
                </a:solidFill>
                <a:latin typeface="Inter"/>
              </a:defRPr>
            </a:pPr>
            <a:r>
              <a:t>• Система утилизации тепла</a:t>
            </a:r>
          </a:p>
          <a:p>
            <a:pPr algn="l">
              <a:lnSpc>
                <a:spcPct val="110000"/>
              </a:lnSpc>
              <a:defRPr sz="1600" b="0">
                <a:solidFill>
                  <a:srgbClr val="0A0A0A"/>
                </a:solidFill>
                <a:latin typeface="Inter"/>
              </a:defRPr>
            </a:pPr>
            <a:r>
              <a:t>• Системы безопасности</a:t>
            </a:r>
          </a:p>
          <a:p>
            <a:pPr algn="l">
              <a:lnSpc>
                <a:spcPct val="110000"/>
              </a:lnSpc>
              <a:defRPr sz="1600" b="0">
                <a:solidFill>
                  <a:srgbClr val="0A0A0A"/>
                </a:solidFill>
                <a:latin typeface="Inter"/>
              </a:defRPr>
            </a:pPr>
            <a:r>
              <a:t>• Система охдаждения</a:t>
            </a:r>
          </a:p>
          <a:p>
            <a:pPr algn="l">
              <a:lnSpc>
                <a:spcPct val="110000"/>
              </a:lnSpc>
              <a:defRPr sz="1600" b="0">
                <a:solidFill>
                  <a:srgbClr val="0A0A0A"/>
                </a:solidFill>
                <a:latin typeface="Inter"/>
              </a:defRPr>
            </a:pPr>
            <a:r>
              <a:t>• Газовая система</a:t>
            </a:r>
          </a:p>
          <a:p>
            <a:pPr algn="l">
              <a:lnSpc>
                <a:spcPct val="110000"/>
              </a:lnSpc>
              <a:defRPr sz="1600" b="0">
                <a:solidFill>
                  <a:srgbClr val="0A0A0A"/>
                </a:solidFill>
                <a:latin typeface="Inter"/>
              </a:defRPr>
            </a:pPr>
            <a:r>
              <a:t>• Контейнер (блок- контейнер)</a:t>
            </a:r>
          </a:p>
          <a:p>
            <a:pPr algn="l">
              <a:lnSpc>
                <a:spcPct val="110000"/>
              </a:lnSpc>
              <a:defRPr sz="1600" b="0">
                <a:solidFill>
                  <a:srgbClr val="0A0A0A"/>
                </a:solidFill>
                <a:latin typeface="Inter"/>
              </a:defRPr>
            </a:pPr>
            <a:r>
              <a:t>• Система управления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6068" y="1951482"/>
            <a:ext cx="3067812" cy="204520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0"/>
            <a:ext cx="9144000" cy="73152"/>
          </a:xfrm>
          <a:prstGeom prst="rect">
            <a:avLst/>
          </a:prstGeom>
          <a:solidFill>
            <a:srgbClr val="5EC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1120000">
            <a:off x="6035040" y="-640080"/>
            <a:ext cx="4206240" cy="1737360"/>
          </a:xfrm>
          <a:prstGeom prst="rect">
            <a:avLst/>
          </a:prstGeom>
          <a:solidFill>
            <a:srgbClr val="5EC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288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3000" b="1">
                <a:solidFill>
                  <a:srgbClr val="FFFFFF"/>
                </a:solidFill>
                <a:latin typeface="Montserrat"/>
              </a:defRPr>
            </a:pPr>
            <a:r>
              <a:t>КОНТЕЙНЕРНОЕ ИСПОЛНЕНИЕ - ЧТО ЭТО ЗНАЧИТ?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932688"/>
            <a:ext cx="2377440" cy="73152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7772400" cy="32964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325880"/>
            <a:ext cx="109728" cy="3296412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1554480"/>
            <a:ext cx="711403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1600" b="0">
                <a:solidFill>
                  <a:srgbClr val="0A0A0A"/>
                </a:solidFill>
                <a:latin typeface="Inter"/>
              </a:defRPr>
            </a:pPr>
            <a:r>
              <a:t>Контейнерные ГПУ - это готовое сертифицированное изделие: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2039112"/>
            <a:ext cx="3396996" cy="2308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1600" b="0">
                <a:solidFill>
                  <a:srgbClr val="0A0A0A"/>
                </a:solidFill>
                <a:latin typeface="Inter"/>
              </a:defRPr>
            </a:pPr>
            <a:r>
              <a:t>• Заводская сборка;</a:t>
            </a:r>
          </a:p>
          <a:p>
            <a:pPr algn="l">
              <a:lnSpc>
                <a:spcPct val="110000"/>
              </a:lnSpc>
              <a:defRPr sz="1600" b="0">
                <a:solidFill>
                  <a:srgbClr val="0A0A0A"/>
                </a:solidFill>
                <a:latin typeface="Inter"/>
              </a:defRPr>
            </a:pPr>
            <a:r>
              <a:t>• Шумоизоляция;</a:t>
            </a:r>
          </a:p>
          <a:p>
            <a:pPr algn="l">
              <a:lnSpc>
                <a:spcPct val="110000"/>
              </a:lnSpc>
              <a:defRPr sz="1600" b="0">
                <a:solidFill>
                  <a:srgbClr val="0A0A0A"/>
                </a:solidFill>
                <a:latin typeface="Inter"/>
              </a:defRPr>
            </a:pPr>
            <a:r>
              <a:t>• Вентиляция и климат;</a:t>
            </a:r>
          </a:p>
          <a:p>
            <a:pPr algn="l">
              <a:lnSpc>
                <a:spcPct val="110000"/>
              </a:lnSpc>
              <a:defRPr sz="1600" b="0">
                <a:solidFill>
                  <a:srgbClr val="0A0A0A"/>
                </a:solidFill>
                <a:latin typeface="Inter"/>
              </a:defRPr>
            </a:pPr>
            <a:r>
              <a:t>• Пожарная и газовая безопасность;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86884" y="2039112"/>
            <a:ext cx="3396996" cy="2308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1600" b="0">
                <a:solidFill>
                  <a:srgbClr val="0A0A0A"/>
                </a:solidFill>
                <a:latin typeface="Inter"/>
              </a:defRPr>
            </a:pPr>
            <a:r>
              <a:t>• Системы автоматизации и управления;</a:t>
            </a:r>
          </a:p>
          <a:p>
            <a:pPr algn="l">
              <a:lnSpc>
                <a:spcPct val="110000"/>
              </a:lnSpc>
              <a:defRPr sz="1600" b="0">
                <a:solidFill>
                  <a:srgbClr val="0A0A0A"/>
                </a:solidFill>
                <a:latin typeface="Inter"/>
              </a:defRPr>
            </a:pPr>
            <a:r>
              <a:t>• Удобство обслуживания;</a:t>
            </a:r>
          </a:p>
          <a:p>
            <a:pPr algn="l">
              <a:lnSpc>
                <a:spcPct val="110000"/>
              </a:lnSpc>
              <a:defRPr sz="1600" b="0">
                <a:solidFill>
                  <a:srgbClr val="0A0A0A"/>
                </a:solidFill>
                <a:latin typeface="Inter"/>
              </a:defRPr>
            </a:pPr>
            <a:r>
              <a:t>• Это промышленный модуль, а не временное решение.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5EC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0"/>
            <a:ext cx="9144000" cy="73152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1120000">
            <a:off x="6035040" y="-640080"/>
            <a:ext cx="4206240" cy="173736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288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3000" b="1">
                <a:solidFill>
                  <a:srgbClr val="FFFFFF"/>
                </a:solidFill>
                <a:latin typeface="Montserrat"/>
              </a:defRPr>
            </a:pPr>
            <a:r>
              <a:t>НАСКОЛЬКО ЭТО БЕЗОПАСНО?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932688"/>
            <a:ext cx="2377440" cy="73152"/>
          </a:xfrm>
          <a:prstGeom prst="rect">
            <a:avLst/>
          </a:prstGeom>
          <a:solidFill>
            <a:srgbClr val="5EC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3726180" cy="32964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325880"/>
            <a:ext cx="109728" cy="3296412"/>
          </a:xfrm>
          <a:prstGeom prst="rect">
            <a:avLst/>
          </a:prstGeom>
          <a:solidFill>
            <a:srgbClr val="5EC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732020" y="1325880"/>
            <a:ext cx="3726180" cy="32964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32020" y="1325880"/>
            <a:ext cx="109728" cy="3296412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1554480"/>
            <a:ext cx="306781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1600" b="0">
                <a:solidFill>
                  <a:srgbClr val="0A0A0A"/>
                </a:solidFill>
                <a:latin typeface="Inter"/>
              </a:defRPr>
            </a:pPr>
            <a:r>
              <a:t>Контейнерные ГПУ: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039112"/>
            <a:ext cx="3067812" cy="23545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1600" b="0">
                <a:solidFill>
                  <a:srgbClr val="0A0A0A"/>
                </a:solidFill>
                <a:latin typeface="Inter"/>
              </a:defRPr>
            </a:pPr>
            <a:r>
              <a:t>• Соответствуют техническим регламентам;</a:t>
            </a:r>
          </a:p>
          <a:p>
            <a:pPr algn="l">
              <a:lnSpc>
                <a:spcPct val="110000"/>
              </a:lnSpc>
              <a:defRPr sz="1600" b="0">
                <a:solidFill>
                  <a:srgbClr val="0A0A0A"/>
                </a:solidFill>
                <a:latin typeface="Inter"/>
              </a:defRPr>
            </a:pPr>
            <a:r>
              <a:t>• Оснащены пожарной автоматикой;</a:t>
            </a:r>
          </a:p>
          <a:p>
            <a:pPr algn="l">
              <a:lnSpc>
                <a:spcPct val="110000"/>
              </a:lnSpc>
              <a:defRPr sz="1600" b="0">
                <a:solidFill>
                  <a:srgbClr val="0A0A0A"/>
                </a:solidFill>
                <a:latin typeface="Inter"/>
              </a:defRPr>
            </a:pPr>
            <a:r>
              <a:t>• Имеют газоанализ и защиту;</a:t>
            </a:r>
          </a:p>
          <a:p>
            <a:pPr algn="l">
              <a:lnSpc>
                <a:spcPct val="110000"/>
              </a:lnSpc>
              <a:defRPr sz="1600" b="0">
                <a:solidFill>
                  <a:srgbClr val="0A0A0A"/>
                </a:solidFill>
                <a:latin typeface="Inter"/>
              </a:defRPr>
            </a:pPr>
            <a:r>
              <a:t>• Защищены от аварийных режимов;</a:t>
            </a:r>
          </a:p>
          <a:p>
            <a:pPr algn="l">
              <a:lnSpc>
                <a:spcPct val="110000"/>
              </a:lnSpc>
              <a:defRPr sz="1600" b="0">
                <a:solidFill>
                  <a:srgbClr val="0A0A0A"/>
                </a:solidFill>
                <a:latin typeface="Inter"/>
              </a:defRPr>
            </a:pPr>
            <a:r>
              <a:t>• Эксплуатация сопоставима с промышленным оборудованием на заводе.</a:t>
            </a:r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6068" y="1823656"/>
            <a:ext cx="3067812" cy="230085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0"/>
            <a:ext cx="9144000" cy="73152"/>
          </a:xfrm>
          <a:prstGeom prst="rect">
            <a:avLst/>
          </a:prstGeom>
          <a:solidFill>
            <a:srgbClr val="5EC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1120000">
            <a:off x="6035040" y="-640080"/>
            <a:ext cx="4206240" cy="1737360"/>
          </a:xfrm>
          <a:prstGeom prst="rect">
            <a:avLst/>
          </a:prstGeom>
          <a:solidFill>
            <a:srgbClr val="5EC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288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3000" b="1">
                <a:solidFill>
                  <a:srgbClr val="FFFFFF"/>
                </a:solidFill>
                <a:latin typeface="Montserrat"/>
              </a:defRPr>
            </a:pPr>
            <a:r>
              <a:t>ЭКОНОМИКА: СКОЛЬКО СТОИТ ЭЛЕКТРОЭНЕРГИЯ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932688"/>
            <a:ext cx="2377440" cy="73152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7772400" cy="32964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325880"/>
            <a:ext cx="109728" cy="3296412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1554480"/>
            <a:ext cx="711403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1600" b="0">
                <a:solidFill>
                  <a:srgbClr val="0A0A0A"/>
                </a:solidFill>
                <a:latin typeface="Inter"/>
              </a:defRPr>
            </a:pPr>
            <a:r>
              <a:t>Разница формирует основной экономический эффект.</a:t>
            </a:r>
          </a:p>
        </p:txBody>
      </p:sp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2310" y="2039112"/>
            <a:ext cx="5249107" cy="23545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5EC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0"/>
            <a:ext cx="9144000" cy="73152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1120000">
            <a:off x="6035040" y="-640080"/>
            <a:ext cx="4206240" cy="173736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288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3000" b="1">
                <a:solidFill>
                  <a:srgbClr val="FFFFFF"/>
                </a:solidFill>
                <a:latin typeface="Montserrat"/>
              </a:defRPr>
            </a:pPr>
            <a:r>
              <a:t>ДОПОЛНИТЕЛЬНАЯ ВЫГОДА - ТЕПЛО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932688"/>
            <a:ext cx="2377440" cy="73152"/>
          </a:xfrm>
          <a:prstGeom prst="rect">
            <a:avLst/>
          </a:prstGeom>
          <a:solidFill>
            <a:srgbClr val="5EC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3726180" cy="32964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325880"/>
            <a:ext cx="109728" cy="3296412"/>
          </a:xfrm>
          <a:prstGeom prst="rect">
            <a:avLst/>
          </a:prstGeom>
          <a:solidFill>
            <a:srgbClr val="5EC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732020" y="1325880"/>
            <a:ext cx="3726180" cy="32964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32020" y="1325880"/>
            <a:ext cx="109728" cy="3296412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1554480"/>
            <a:ext cx="306781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1600" b="0">
                <a:solidFill>
                  <a:srgbClr val="0A0A0A"/>
                </a:solidFill>
                <a:latin typeface="Inter"/>
              </a:defRPr>
            </a:pPr>
            <a:r>
              <a:t>При работе ГПУ образуется тепло,которое можно использовать: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039112"/>
            <a:ext cx="3067812" cy="23545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1600" b="0">
                <a:solidFill>
                  <a:srgbClr val="0A0A0A"/>
                </a:solidFill>
                <a:latin typeface="Inter"/>
              </a:defRPr>
            </a:pPr>
            <a:r>
              <a:t>• Для отопления;</a:t>
            </a:r>
          </a:p>
          <a:p>
            <a:pPr algn="l">
              <a:lnSpc>
                <a:spcPct val="110000"/>
              </a:lnSpc>
              <a:defRPr sz="1600" b="0">
                <a:solidFill>
                  <a:srgbClr val="0A0A0A"/>
                </a:solidFill>
                <a:latin typeface="Inter"/>
              </a:defRPr>
            </a:pPr>
            <a:r>
              <a:t>• Горячего водоснабжения;</a:t>
            </a:r>
          </a:p>
          <a:p>
            <a:pPr algn="l">
              <a:lnSpc>
                <a:spcPct val="110000"/>
              </a:lnSpc>
              <a:defRPr sz="1600" b="0">
                <a:solidFill>
                  <a:srgbClr val="0A0A0A"/>
                </a:solidFill>
                <a:latin typeface="Inter"/>
              </a:defRPr>
            </a:pPr>
            <a:r>
              <a:t>• Технологических процессов;</a:t>
            </a:r>
          </a:p>
          <a:p>
            <a:pPr algn="l">
              <a:lnSpc>
                <a:spcPct val="110000"/>
              </a:lnSpc>
              <a:defRPr sz="1600" b="0">
                <a:solidFill>
                  <a:srgbClr val="0A0A0A"/>
                </a:solidFill>
                <a:latin typeface="Inter"/>
              </a:defRPr>
            </a:pPr>
            <a:r>
              <a:t>• Это повышает общий КПД системы до 80-90% и ускоряет окупаемость проекта.</a:t>
            </a:r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6068" y="2185123"/>
            <a:ext cx="3067812" cy="15779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0"/>
            <a:ext cx="9144000" cy="73152"/>
          </a:xfrm>
          <a:prstGeom prst="rect">
            <a:avLst/>
          </a:prstGeom>
          <a:solidFill>
            <a:srgbClr val="5EC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1120000">
            <a:off x="6035040" y="-640080"/>
            <a:ext cx="4206240" cy="1737360"/>
          </a:xfrm>
          <a:prstGeom prst="rect">
            <a:avLst/>
          </a:prstGeom>
          <a:solidFill>
            <a:srgbClr val="5EC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288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3000" b="1">
                <a:solidFill>
                  <a:srgbClr val="FFFFFF"/>
                </a:solidFill>
                <a:latin typeface="Montserrat"/>
              </a:defRPr>
            </a:pPr>
            <a:r>
              <a:t>ГДЕ ПРИМЕНЯЮТСЯ ГПУ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932688"/>
            <a:ext cx="2377440" cy="73152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3726180" cy="32964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325880"/>
            <a:ext cx="109728" cy="3296412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732020" y="1325880"/>
            <a:ext cx="3726180" cy="32964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32020" y="1325880"/>
            <a:ext cx="109728" cy="3296412"/>
          </a:xfrm>
          <a:prstGeom prst="rect">
            <a:avLst/>
          </a:prstGeom>
          <a:solidFill>
            <a:srgbClr val="5EC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1554480"/>
            <a:ext cx="3067812" cy="2839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1600" b="0">
                <a:solidFill>
                  <a:srgbClr val="0A0A0A"/>
                </a:solidFill>
                <a:latin typeface="Inter"/>
              </a:defRPr>
            </a:pPr>
            <a:r>
              <a:t>• На промышленных предприятиях;</a:t>
            </a:r>
          </a:p>
          <a:p>
            <a:pPr algn="l">
              <a:lnSpc>
                <a:spcPct val="110000"/>
              </a:lnSpc>
              <a:defRPr sz="1600" b="0">
                <a:solidFill>
                  <a:srgbClr val="0A0A0A"/>
                </a:solidFill>
                <a:latin typeface="Inter"/>
              </a:defRPr>
            </a:pPr>
            <a:r>
              <a:t>• В нефтегазовой отрасли;</a:t>
            </a:r>
          </a:p>
          <a:p>
            <a:pPr algn="l">
              <a:lnSpc>
                <a:spcPct val="110000"/>
              </a:lnSpc>
              <a:defRPr sz="1600" b="0">
                <a:solidFill>
                  <a:srgbClr val="0A0A0A"/>
                </a:solidFill>
                <a:latin typeface="Inter"/>
              </a:defRPr>
            </a:pPr>
            <a:r>
              <a:t>• В коммерческой недвижимости;</a:t>
            </a:r>
          </a:p>
          <a:p>
            <a:pPr algn="l">
              <a:lnSpc>
                <a:spcPct val="110000"/>
              </a:lnSpc>
              <a:defRPr sz="1600" b="0">
                <a:solidFill>
                  <a:srgbClr val="0A0A0A"/>
                </a:solidFill>
                <a:latin typeface="Inter"/>
              </a:defRPr>
            </a:pPr>
            <a:r>
              <a:t>• В автономных и удаленных зонах;</a:t>
            </a:r>
          </a:p>
          <a:p>
            <a:pPr algn="l">
              <a:lnSpc>
                <a:spcPct val="110000"/>
              </a:lnSpc>
              <a:defRPr sz="1600" b="0">
                <a:solidFill>
                  <a:srgbClr val="0A0A0A"/>
                </a:solidFill>
                <a:latin typeface="Inter"/>
              </a:defRPr>
            </a:pPr>
            <a:r>
              <a:t>• В дата-центрах и инфраструктурных проектах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69848" y="3845052"/>
            <a:ext cx="3067812" cy="548640"/>
          </a:xfrm>
          <a:prstGeom prst="roundRect">
            <a:avLst/>
          </a:prstGeom>
          <a:solidFill>
            <a:srgbClr val="0097A7"/>
          </a:solidFill>
          <a:ln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ЭТО МИРОВОЙ СТАНДАРТ РАСПРЕДЕЛЕННОЙ ЭНЕРГЕТИКИ.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6068" y="2317982"/>
            <a:ext cx="3067812" cy="131220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5EC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0"/>
            <a:ext cx="9144000" cy="73152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1120000">
            <a:off x="6035040" y="-640080"/>
            <a:ext cx="4206240" cy="173736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288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3000" b="1">
                <a:solidFill>
                  <a:srgbClr val="FFFFFF"/>
                </a:solidFill>
                <a:latin typeface="Montserrat"/>
              </a:defRPr>
            </a:pPr>
            <a:r>
              <a:t>РОЛЬ МАЙНИНГА В ЭНЕРГЕТИКЕ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932688"/>
            <a:ext cx="2377440" cy="73152"/>
          </a:xfrm>
          <a:prstGeom prst="rect">
            <a:avLst/>
          </a:prstGeom>
          <a:solidFill>
            <a:srgbClr val="5EC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7772400" cy="32964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325880"/>
            <a:ext cx="109728" cy="3296412"/>
          </a:xfrm>
          <a:prstGeom prst="rect">
            <a:avLst/>
          </a:prstGeom>
          <a:solidFill>
            <a:srgbClr val="5EC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1554480"/>
            <a:ext cx="7114032" cy="22448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1600" b="0">
                <a:solidFill>
                  <a:srgbClr val="0A0A0A"/>
                </a:solidFill>
                <a:latin typeface="Inter"/>
              </a:defRPr>
            </a:pPr>
            <a:r>
              <a:t>• ASGard Mining Solutions не является поставщиком оборудования для майнинга</a:t>
            </a:r>
          </a:p>
          <a:p>
            <a:pPr algn="l">
              <a:lnSpc>
                <a:spcPct val="110000"/>
              </a:lnSpc>
              <a:defRPr sz="1600" b="0">
                <a:solidFill>
                  <a:srgbClr val="0A0A0A"/>
                </a:solidFill>
                <a:latin typeface="Inter"/>
              </a:defRPr>
            </a:pPr>
            <a:r>
              <a:t>• ASGard Mining Solutions - это комплексный энергетический интегратор</a:t>
            </a:r>
          </a:p>
          <a:p>
            <a:pPr algn="l">
              <a:lnSpc>
                <a:spcPct val="110000"/>
              </a:lnSpc>
              <a:defRPr sz="1600" b="0">
                <a:solidFill>
                  <a:srgbClr val="0A0A0A"/>
                </a:solidFill>
                <a:latin typeface="Inter"/>
              </a:defRPr>
            </a:pPr>
            <a:r>
              <a:t>• диверсификация потребления</a:t>
            </a:r>
          </a:p>
          <a:p>
            <a:pPr algn="l">
              <a:lnSpc>
                <a:spcPct val="110000"/>
              </a:lnSpc>
              <a:defRPr sz="1600" b="0">
                <a:solidFill>
                  <a:srgbClr val="0A0A0A"/>
                </a:solidFill>
                <a:latin typeface="Inter"/>
              </a:defRPr>
            </a:pPr>
            <a:r>
              <a:t>• источник валютной выручки</a:t>
            </a:r>
          </a:p>
          <a:p>
            <a:pPr algn="l">
              <a:lnSpc>
                <a:spcPct val="110000"/>
              </a:lnSpc>
              <a:defRPr sz="1600" b="0">
                <a:solidFill>
                  <a:srgbClr val="0A0A0A"/>
                </a:solidFill>
                <a:latin typeface="Inter"/>
              </a:defRPr>
            </a:pPr>
            <a:r>
              <a:t>• балансир энергосистемы</a:t>
            </a:r>
          </a:p>
          <a:p>
            <a:pPr algn="l">
              <a:lnSpc>
                <a:spcPct val="110000"/>
              </a:lnSpc>
              <a:defRPr sz="1600" b="0">
                <a:solidFill>
                  <a:srgbClr val="0A0A0A"/>
                </a:solidFill>
                <a:latin typeface="Inter"/>
              </a:defRPr>
            </a:pPr>
            <a:r>
              <a:t>• использование свободных и избыточных мощностей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69848" y="3845052"/>
            <a:ext cx="7114032" cy="548640"/>
          </a:xfrm>
          <a:prstGeom prst="roundRect">
            <a:avLst/>
          </a:prstGeom>
          <a:solidFill>
            <a:srgbClr val="0097A7"/>
          </a:solidFill>
          <a:ln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МАЙНИНГ РАССМАТРИВАЕТСЯ КАК ИНСТРУМЕНТ: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786884"/>
            <a:ext cx="7772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1000" b="0">
                <a:solidFill>
                  <a:srgbClr val="C2C2C2"/>
                </a:solidFill>
                <a:latin typeface="Inter"/>
              </a:defRPr>
            </a:pPr>
            <a:r>
              <a:t>@asgardchanel | +7 (800) 550-07-32 | +7 (916) 772-19-84 | info@asg-ard.ru | asg-mining.ru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0"/>
            <a:ext cx="9144000" cy="73152"/>
          </a:xfrm>
          <a:prstGeom prst="rect">
            <a:avLst/>
          </a:prstGeom>
          <a:solidFill>
            <a:srgbClr val="5EC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1120000">
            <a:off x="6035040" y="-640080"/>
            <a:ext cx="4206240" cy="1737360"/>
          </a:xfrm>
          <a:prstGeom prst="rect">
            <a:avLst/>
          </a:prstGeom>
          <a:solidFill>
            <a:srgbClr val="5EC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288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3000" b="1">
                <a:solidFill>
                  <a:srgbClr val="FFFFFF"/>
                </a:solidFill>
                <a:latin typeface="Montserrat"/>
              </a:defRPr>
            </a:pPr>
            <a:r>
              <a:t>РЕАЛЬНЫЙ КЕЙС: СЕТЬ И ГАЗ В МАЙНИНГЕ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932688"/>
            <a:ext cx="2377440" cy="73152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7772400" cy="32964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325880"/>
            <a:ext cx="109728" cy="3296412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69848" y="1554480"/>
            <a:ext cx="7114032" cy="548640"/>
          </a:xfrm>
          <a:prstGeom prst="roundRect">
            <a:avLst/>
          </a:prstGeom>
          <a:solidFill>
            <a:srgbClr val="5EC062"/>
          </a:solidFill>
          <a:ln>
            <a:solidFill>
              <a:srgbClr val="5EC0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ЭТО ЧИСТАЯ ЭКОНОМИЯ, А НЕ РОСТ ДОХОДНОСТИ</a:t>
            </a:r>
          </a:p>
        </p:txBody>
      </p:sp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0422" y="2194560"/>
            <a:ext cx="4952883" cy="219913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5EC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0"/>
            <a:ext cx="9144000" cy="73152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1120000">
            <a:off x="6035040" y="-640080"/>
            <a:ext cx="4206240" cy="173736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288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3000" b="1">
                <a:solidFill>
                  <a:srgbClr val="FFFFFF"/>
                </a:solidFill>
                <a:latin typeface="Montserrat"/>
              </a:defRPr>
            </a:pPr>
            <a:r>
              <a:t>ПОЧЕМУ ЭТО КРИТИЧНО В 2026 ГОДУ?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932688"/>
            <a:ext cx="2377440" cy="73152"/>
          </a:xfrm>
          <a:prstGeom prst="rect">
            <a:avLst/>
          </a:prstGeom>
          <a:solidFill>
            <a:srgbClr val="5EC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7772400" cy="32964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325880"/>
            <a:ext cx="109728" cy="3296412"/>
          </a:xfrm>
          <a:prstGeom prst="rect">
            <a:avLst/>
          </a:prstGeom>
          <a:solidFill>
            <a:srgbClr val="5EC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1554480"/>
            <a:ext cx="7114032" cy="2793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1600" b="0">
                <a:solidFill>
                  <a:srgbClr val="0A0A0A"/>
                </a:solidFill>
                <a:latin typeface="Inter"/>
              </a:defRPr>
            </a:pPr>
            <a:r>
              <a:t>• ASIC у всех одинаковые;</a:t>
            </a:r>
          </a:p>
          <a:p>
            <a:pPr algn="l">
              <a:lnSpc>
                <a:spcPct val="110000"/>
              </a:lnSpc>
              <a:defRPr sz="1600" b="0">
                <a:solidFill>
                  <a:srgbClr val="0A0A0A"/>
                </a:solidFill>
                <a:latin typeface="Inter"/>
              </a:defRPr>
            </a:pPr>
            <a:r>
              <a:t>• Биткойн у всех одинаковый;</a:t>
            </a:r>
          </a:p>
          <a:p>
            <a:pPr algn="l">
              <a:lnSpc>
                <a:spcPct val="110000"/>
              </a:lnSpc>
              <a:defRPr sz="1600" b="0">
                <a:solidFill>
                  <a:srgbClr val="0A0A0A"/>
                </a:solidFill>
                <a:latin typeface="Inter"/>
              </a:defRPr>
            </a:pPr>
            <a:r>
              <a:t>• Сложность сети у всех одинаковая;</a:t>
            </a:r>
          </a:p>
          <a:p>
            <a:pPr algn="l">
              <a:lnSpc>
                <a:spcPct val="110000"/>
              </a:lnSpc>
              <a:defRPr sz="1600" b="0">
                <a:solidFill>
                  <a:srgbClr val="0A0A0A"/>
                </a:solidFill>
                <a:latin typeface="Inter"/>
              </a:defRPr>
            </a:pPr>
            <a:r>
              <a:t>• Разницу делает цена киловатта.  Именно она определяет какой именно будет доход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0"/>
            <a:ext cx="9144000" cy="73152"/>
          </a:xfrm>
          <a:prstGeom prst="rect">
            <a:avLst/>
          </a:prstGeom>
          <a:solidFill>
            <a:srgbClr val="5EC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1120000">
            <a:off x="6035040" y="-640080"/>
            <a:ext cx="4206240" cy="1737360"/>
          </a:xfrm>
          <a:prstGeom prst="rect">
            <a:avLst/>
          </a:prstGeom>
          <a:solidFill>
            <a:srgbClr val="5EC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288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3000" b="1">
                <a:solidFill>
                  <a:srgbClr val="FFFFFF"/>
                </a:solidFill>
                <a:latin typeface="Montserrat"/>
              </a:defRPr>
            </a:pPr>
            <a:r>
              <a:t>ЭНЕРГОСЕРВИСНЫЙ КОНТРАКТ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932688"/>
            <a:ext cx="2377440" cy="73152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7772400" cy="32964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325880"/>
            <a:ext cx="109728" cy="3296412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1554480"/>
            <a:ext cx="711403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1600" b="0">
                <a:solidFill>
                  <a:srgbClr val="0A0A0A"/>
                </a:solidFill>
                <a:latin typeface="Inter"/>
              </a:defRPr>
            </a:pPr>
            <a:r>
              <a:t>Сегодня компании сталкиваются с одними и теми же проблемами: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2039112"/>
            <a:ext cx="7114032" cy="1760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1600" b="0">
                <a:solidFill>
                  <a:srgbClr val="0A0A0A"/>
                </a:solidFill>
                <a:latin typeface="Inter"/>
              </a:defRPr>
            </a:pPr>
            <a:r>
              <a:t>• Заказчик не инвестирует в оборудование;</a:t>
            </a:r>
          </a:p>
          <a:p>
            <a:pPr algn="l">
              <a:lnSpc>
                <a:spcPct val="110000"/>
              </a:lnSpc>
              <a:defRPr sz="1600" b="0">
                <a:solidFill>
                  <a:srgbClr val="0A0A0A"/>
                </a:solidFill>
                <a:latin typeface="Inter"/>
              </a:defRPr>
            </a:pPr>
            <a:r>
              <a:t>• Мы проектируем, строим и обслуживаем ГПЭС;</a:t>
            </a:r>
          </a:p>
          <a:p>
            <a:pPr algn="l">
              <a:lnSpc>
                <a:spcPct val="110000"/>
              </a:lnSpc>
              <a:defRPr sz="1600" b="0">
                <a:solidFill>
                  <a:srgbClr val="0A0A0A"/>
                </a:solidFill>
                <a:latin typeface="Inter"/>
              </a:defRPr>
            </a:pPr>
            <a:r>
              <a:t>• Продаем электроэнергию со скидкой 10-20%;</a:t>
            </a:r>
          </a:p>
          <a:p>
            <a:pPr algn="l">
              <a:lnSpc>
                <a:spcPct val="110000"/>
              </a:lnSpc>
              <a:defRPr sz="1600" b="0">
                <a:solidFill>
                  <a:srgbClr val="0A0A0A"/>
                </a:solidFill>
                <a:latin typeface="Inter"/>
              </a:defRPr>
            </a:pPr>
            <a:r>
              <a:t>• Все технические риски - на нас;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69848" y="3845052"/>
            <a:ext cx="7114032" cy="548640"/>
          </a:xfrm>
          <a:prstGeom prst="roundRect">
            <a:avLst/>
          </a:prstGeom>
          <a:solidFill>
            <a:srgbClr val="5EC062"/>
          </a:solidFill>
          <a:ln>
            <a:solidFill>
              <a:srgbClr val="5EC0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ВЫ ПОЛУЧАЕТЕ ДЕШЕВУЮ ЭНЕРГИЮ БЕЗ CAPEX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5EC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0"/>
            <a:ext cx="9144000" cy="73152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1120000">
            <a:off x="6035040" y="-640080"/>
            <a:ext cx="4206240" cy="173736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288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3000" b="1">
                <a:solidFill>
                  <a:srgbClr val="FFFFFF"/>
                </a:solidFill>
                <a:latin typeface="Montserrat"/>
              </a:defRPr>
            </a:pPr>
            <a:r>
              <a:t>О КОМПАНИИ ASGard Mining Solutions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932688"/>
            <a:ext cx="2377440" cy="73152"/>
          </a:xfrm>
          <a:prstGeom prst="rect">
            <a:avLst/>
          </a:prstGeom>
          <a:solidFill>
            <a:srgbClr val="5EC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7772400" cy="32964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325880"/>
            <a:ext cx="109728" cy="3296412"/>
          </a:xfrm>
          <a:prstGeom prst="rect">
            <a:avLst/>
          </a:prstGeom>
          <a:solidFill>
            <a:srgbClr val="5EC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1554480"/>
            <a:ext cx="711403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1600" b="0">
                <a:solidFill>
                  <a:srgbClr val="0A0A0A"/>
                </a:solidFill>
                <a:latin typeface="Inter"/>
              </a:defRPr>
            </a:pPr>
            <a:r>
              <a:t>Мы выполняем полный цикл: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2039112"/>
            <a:ext cx="3396996" cy="2308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1600" b="0">
                <a:solidFill>
                  <a:srgbClr val="0A0A0A"/>
                </a:solidFill>
                <a:latin typeface="Inter"/>
              </a:defRPr>
            </a:pPr>
            <a:r>
              <a:t>• Поставка оборудования</a:t>
            </a:r>
          </a:p>
          <a:p>
            <a:pPr algn="l">
              <a:lnSpc>
                <a:spcPct val="110000"/>
              </a:lnSpc>
              <a:defRPr sz="1600" b="0">
                <a:solidFill>
                  <a:srgbClr val="0A0A0A"/>
                </a:solidFill>
                <a:latin typeface="Inter"/>
              </a:defRPr>
            </a:pPr>
            <a:r>
              <a:t>• Подключение и пуско-наладка</a:t>
            </a:r>
          </a:p>
          <a:p>
            <a:pPr algn="l">
              <a:lnSpc>
                <a:spcPct val="110000"/>
              </a:lnSpc>
              <a:defRPr sz="1600" b="0">
                <a:solidFill>
                  <a:srgbClr val="0A0A0A"/>
                </a:solidFill>
                <a:latin typeface="Inter"/>
              </a:defRPr>
            </a:pPr>
            <a:r>
              <a:t>• Обслуживание и сервис</a:t>
            </a:r>
          </a:p>
          <a:p>
            <a:pPr algn="l">
              <a:lnSpc>
                <a:spcPct val="110000"/>
              </a:lnSpc>
              <a:defRPr sz="1600" b="0">
                <a:solidFill>
                  <a:srgbClr val="0A0A0A"/>
                </a:solidFill>
                <a:latin typeface="Inter"/>
              </a:defRPr>
            </a:pPr>
            <a:r>
              <a:t>• Строительство и монтаж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86884" y="2039112"/>
            <a:ext cx="3396996" cy="2308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1600" b="0">
                <a:solidFill>
                  <a:srgbClr val="0A0A0A"/>
                </a:solidFill>
                <a:latin typeface="Inter"/>
              </a:defRPr>
            </a:pPr>
            <a:r>
              <a:t>• Проектирование</a:t>
            </a:r>
          </a:p>
          <a:p>
            <a:pPr algn="l">
              <a:lnSpc>
                <a:spcPct val="110000"/>
              </a:lnSpc>
              <a:defRPr sz="1600" b="0">
                <a:solidFill>
                  <a:srgbClr val="0A0A0A"/>
                </a:solidFill>
                <a:latin typeface="Inter"/>
              </a:defRPr>
            </a:pPr>
            <a:r>
              <a:t>• Экономический расчет и ТЭО</a:t>
            </a:r>
          </a:p>
          <a:p>
            <a:pPr algn="l">
              <a:lnSpc>
                <a:spcPct val="110000"/>
              </a:lnSpc>
              <a:defRPr sz="1600" b="0">
                <a:solidFill>
                  <a:srgbClr val="0A0A0A"/>
                </a:solidFill>
                <a:latin typeface="Inter"/>
              </a:defRPr>
            </a:pPr>
            <a:r>
              <a:t>• Один подрядчик - одна отвественность.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786884"/>
            <a:ext cx="7772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1000" b="0">
                <a:solidFill>
                  <a:srgbClr val="C2C2C2"/>
                </a:solidFill>
                <a:latin typeface="Inter"/>
              </a:defRPr>
            </a:pPr>
            <a:r>
              <a:t>Москва, 2-й Кабельный проезд, 2А | @asgardchanel | +7 (800) 550-07-32 | +7 (916) 772-19-84 | info@asg-ard.ru | asg-mining.ru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0"/>
            <a:ext cx="9144000" cy="73152"/>
          </a:xfrm>
          <a:prstGeom prst="rect">
            <a:avLst/>
          </a:prstGeom>
          <a:solidFill>
            <a:srgbClr val="5EC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1120000">
            <a:off x="6035040" y="-640080"/>
            <a:ext cx="4206240" cy="1737360"/>
          </a:xfrm>
          <a:prstGeom prst="rect">
            <a:avLst/>
          </a:prstGeom>
          <a:solidFill>
            <a:srgbClr val="5EC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288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3000" b="1">
                <a:solidFill>
                  <a:srgbClr val="FFFFFF"/>
                </a:solidFill>
                <a:latin typeface="Montserrat"/>
              </a:defRPr>
            </a:pPr>
            <a:r>
              <a:t>СЛЕДУЮЩИЙ ШАГ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932688"/>
            <a:ext cx="2377440" cy="73152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7772400" cy="32964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325880"/>
            <a:ext cx="109728" cy="3296412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1554480"/>
            <a:ext cx="7114032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1600" b="0">
                <a:solidFill>
                  <a:srgbClr val="0A0A0A"/>
                </a:solidFill>
                <a:latin typeface="Inter"/>
              </a:defRPr>
            </a:pPr>
            <a:r>
              <a:t>Для подготовки решения:</a:t>
            </a:r>
          </a:p>
          <a:p>
            <a:pPr algn="l">
              <a:lnSpc>
                <a:spcPct val="110000"/>
              </a:lnSpc>
              <a:defRPr sz="1600" b="0">
                <a:solidFill>
                  <a:srgbClr val="0A0A0A"/>
                </a:solidFill>
                <a:latin typeface="Inter"/>
              </a:defRPr>
            </a:pPr>
            <a:r>
              <a:t>Выполняется запись на встречу;</a:t>
            </a:r>
            <a:br/>
            <a:r>
              <a:t>Выполняется расчет;</a:t>
            </a:r>
            <a:br/>
            <a:r>
              <a:t>Подбирается оптимальная конфигурация.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69848" y="3662172"/>
            <a:ext cx="2743200" cy="566928"/>
          </a:xfrm>
          <a:prstGeom prst="roundRect">
            <a:avLst/>
          </a:prstGeom>
          <a:solidFill>
            <a:srgbClr val="0097A7"/>
          </a:solidFill>
          <a:ln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ОСТАВИТЬ ЗАЯВКУ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78808" y="3662172"/>
            <a:ext cx="2743200" cy="566928"/>
          </a:xfrm>
          <a:prstGeom prst="roundRect">
            <a:avLst/>
          </a:prstGeom>
          <a:solidFill>
            <a:srgbClr val="5EC062"/>
          </a:solidFill>
          <a:ln>
            <a:solidFill>
              <a:srgbClr val="5EC0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ЗАПИСАТЬСЯ НА ВСТРЕЧУ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5EC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786884"/>
            <a:ext cx="7772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1000" b="0">
                <a:solidFill>
                  <a:srgbClr val="C2C2C2"/>
                </a:solidFill>
                <a:latin typeface="Inter"/>
              </a:defRPr>
            </a:pPr>
            <a:r>
              <a:t>Москва, 2-й Кабельный проезд, 2А | @asgardchanel | +7 (800) 550-07-32 | +7 (916) 772-19-84 | info@asg-ard.ru | asg-mining.ru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