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5EC0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8046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defRPr sz="2800" b="1">
                <a:solidFill>
                  <a:srgbClr val="0A0A0A"/>
                </a:solidFill>
                <a:latin typeface="Montserrat"/>
              </a:defRPr>
            </a:pPr>
            <a:r>
              <a:t>ГАЗОПОРШНЕВЫЕ ЭЛЕКТРОСТАНЦИИ(ГПУ/ГПЭС)</a:t>
            </a:r>
            <a:br/>
            <a:r>
              <a:t>СОБСТВЕННАЯ ГЕНЕРАЦИЯ ЭЛЕКТРОЭНЕРГИИ И ТЕПЛА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96112"/>
            <a:ext cx="2377440" cy="36576"/>
          </a:xfrm>
          <a:prstGeom prst="rect">
            <a:avLst/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defRPr sz="1600" b="0">
                <a:solidFill>
                  <a:srgbClr val="0A0A0A"/>
                </a:solidFill>
                <a:latin typeface="Inter"/>
              </a:defRPr>
            </a:pPr>
            <a:r>
              <a:t>ПОНЯТНОЕ РЕШЕНИЕ ДЛЯ БИЗНЕСА, ПРОМЫШЛЕННОСТИ И ИНФРАСТРУКТУРЫ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823531"/>
            <a:ext cx="3017520" cy="129069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F1F3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4759452"/>
            <a:ext cx="8046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defRPr sz="1000" b="0">
                <a:solidFill>
                  <a:srgbClr val="6B7280"/>
                </a:solidFill>
                <a:latin typeface="Inter"/>
              </a:defRPr>
            </a:pPr>
            <a:r>
              <a:t>Москва, 2-й Кабельный проезд, 2А | @asgardchanel | +7 (800) 550-07-32 | +7 (916) 772-19-84 | info@asg-ard.ru | asg-mining.ru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5EC0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8046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defRPr sz="2800" b="1">
                <a:solidFill>
                  <a:srgbClr val="0A0A0A"/>
                </a:solidFill>
                <a:latin typeface="Montserrat"/>
              </a:defRPr>
            </a:pPr>
            <a:r>
              <a:t>ПОЧЕМУ БИЗНЕСУ НУЖНА СОБСТВЕННАЯ ГЕНЕРАЦИЯ?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96112"/>
            <a:ext cx="2377440" cy="36576"/>
          </a:xfrm>
          <a:prstGeom prst="rect">
            <a:avLst/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8046720" cy="411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defRPr sz="1600" b="0">
                <a:solidFill>
                  <a:srgbClr val="0A0A0A"/>
                </a:solidFill>
                <a:latin typeface="Inter"/>
              </a:defRPr>
            </a:pPr>
            <a:r>
              <a:t>Сегодня компании сталкиваются с одними и теми же проблемами: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19"/>
            <a:ext cx="8046720" cy="22174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defRPr sz="1600" b="0">
                <a:solidFill>
                  <a:srgbClr val="0A0A0A"/>
                </a:solidFill>
                <a:latin typeface="Inter"/>
              </a:defRPr>
            </a:pPr>
            <a:r>
              <a:t>• Рост тарифов на электроэнергию более 15% в 2025 году;</a:t>
            </a:r>
          </a:p>
          <a:p>
            <a:pPr algn="l">
              <a:lnSpc>
                <a:spcPct val="110000"/>
              </a:lnSpc>
              <a:defRPr sz="1600" b="0">
                <a:solidFill>
                  <a:srgbClr val="0A0A0A"/>
                </a:solidFill>
                <a:latin typeface="Inter"/>
              </a:defRPr>
            </a:pPr>
            <a:r>
              <a:t>• Дефицит доступной мощности от сетей;</a:t>
            </a:r>
          </a:p>
          <a:p>
            <a:pPr algn="l">
              <a:lnSpc>
                <a:spcPct val="110000"/>
              </a:lnSpc>
              <a:defRPr sz="1600" b="0">
                <a:solidFill>
                  <a:srgbClr val="0A0A0A"/>
                </a:solidFill>
                <a:latin typeface="Inter"/>
              </a:defRPr>
            </a:pPr>
            <a:r>
              <a:t>• Высокая стоимость резервного питания;</a:t>
            </a:r>
          </a:p>
          <a:p>
            <a:pPr algn="l">
              <a:lnSpc>
                <a:spcPct val="110000"/>
              </a:lnSpc>
              <a:defRPr sz="1600" b="0">
                <a:solidFill>
                  <a:srgbClr val="0A0A0A"/>
                </a:solidFill>
                <a:latin typeface="Inter"/>
              </a:defRPr>
            </a:pPr>
            <a:r>
              <a:t>• Перебои, ограничения и аварийные отключения, а также простои и прямые убытки;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863340"/>
            <a:ext cx="8046720" cy="640080"/>
          </a:xfrm>
          <a:prstGeom prst="roundRect">
            <a:avLst/>
          </a:prstGeom>
          <a:solidFill>
            <a:srgbClr val="E8F4EC"/>
          </a:solidFill>
          <a:ln>
            <a:solidFill>
              <a:srgbClr val="5EC0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600" b="1">
                <a:solidFill>
                  <a:srgbClr val="5EC062"/>
                </a:solidFill>
                <a:latin typeface="Montserrat"/>
              </a:defRPr>
            </a:pPr>
            <a:r>
              <a:t>Вывод: Электроэнергия становится стратегическим ресурсом бизнеса.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5EC0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8046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defRPr sz="2800" b="1">
                <a:solidFill>
                  <a:srgbClr val="0A0A0A"/>
                </a:solidFill>
                <a:latin typeface="Montserrat"/>
              </a:defRPr>
            </a:pPr>
            <a:r>
              <a:t>ЧТО ТАКОЕ ГПУ/ГПЭС - ПРОСТЫМИ СЛОВАМИ?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96112"/>
            <a:ext cx="2377440" cy="36576"/>
          </a:xfrm>
          <a:prstGeom prst="rect">
            <a:avLst/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8046720" cy="411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defRPr sz="1600" b="0">
                <a:solidFill>
                  <a:srgbClr val="0A0A0A"/>
                </a:solidFill>
                <a:latin typeface="Inter"/>
              </a:defRPr>
            </a:pPr>
            <a:r>
              <a:t>Газопоршневая установка - это электростанция, которая: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19"/>
            <a:ext cx="8046720" cy="22174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defRPr sz="1600" b="0">
                <a:solidFill>
                  <a:srgbClr val="0A0A0A"/>
                </a:solidFill>
                <a:latin typeface="Inter"/>
              </a:defRPr>
            </a:pPr>
            <a:r>
              <a:t>• Работает на газе;</a:t>
            </a:r>
          </a:p>
          <a:p>
            <a:pPr algn="l">
              <a:lnSpc>
                <a:spcPct val="110000"/>
              </a:lnSpc>
              <a:defRPr sz="1600" b="0">
                <a:solidFill>
                  <a:srgbClr val="0A0A0A"/>
                </a:solidFill>
                <a:latin typeface="Inter"/>
              </a:defRPr>
            </a:pPr>
            <a:r>
              <a:t>• Производит электроэнергию прямо на объекте;</a:t>
            </a:r>
          </a:p>
          <a:p>
            <a:pPr algn="l">
              <a:lnSpc>
                <a:spcPct val="110000"/>
              </a:lnSpc>
              <a:defRPr sz="1600" b="0">
                <a:solidFill>
                  <a:srgbClr val="0A0A0A"/>
                </a:solidFill>
                <a:latin typeface="Inter"/>
              </a:defRPr>
            </a:pPr>
            <a:r>
              <a:t>• Дополнительно дает полезное тепло;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863340"/>
            <a:ext cx="8046720" cy="640080"/>
          </a:xfrm>
          <a:prstGeom prst="roundRect">
            <a:avLst/>
          </a:prstGeom>
          <a:solidFill>
            <a:srgbClr val="E8F4EC"/>
          </a:solidFill>
          <a:ln>
            <a:solidFill>
              <a:srgbClr val="5EC0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600" b="1">
                <a:solidFill>
                  <a:srgbClr val="5EC062"/>
                </a:solidFill>
                <a:latin typeface="Montserrat"/>
              </a:defRPr>
            </a:pPr>
            <a:r>
              <a:t>ГАЗ → ДВИГАТЕЛЬ → ЭЛЕКТРИЧЕСТВО → ТЕПЛО → ЭКОНОМИЯ ДО 70%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5EC0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8046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defRPr sz="2800" b="1">
                <a:solidFill>
                  <a:srgbClr val="0A0A0A"/>
                </a:solidFill>
                <a:latin typeface="Montserrat"/>
              </a:defRPr>
            </a:pPr>
            <a:r>
              <a:t>КАК РАБОТАЕТ ГПУ?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96112"/>
            <a:ext cx="2377440" cy="36576"/>
          </a:xfrm>
          <a:prstGeom prst="rect">
            <a:avLst/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8046720" cy="27203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defRPr sz="1600" b="0">
                <a:solidFill>
                  <a:srgbClr val="0A0A0A"/>
                </a:solidFill>
                <a:latin typeface="Inter"/>
              </a:defRPr>
            </a:pPr>
            <a:r>
              <a:t>• Газ поступает в двигатель;</a:t>
            </a:r>
          </a:p>
          <a:p>
            <a:pPr algn="l">
              <a:lnSpc>
                <a:spcPct val="110000"/>
              </a:lnSpc>
              <a:defRPr sz="1600" b="0">
                <a:solidFill>
                  <a:srgbClr val="0A0A0A"/>
                </a:solidFill>
                <a:latin typeface="Inter"/>
              </a:defRPr>
            </a:pPr>
            <a:r>
              <a:t>• Двигатель вращает генератор;</a:t>
            </a:r>
          </a:p>
          <a:p>
            <a:pPr algn="l">
              <a:lnSpc>
                <a:spcPct val="110000"/>
              </a:lnSpc>
              <a:defRPr sz="1600" b="0">
                <a:solidFill>
                  <a:srgbClr val="0A0A0A"/>
                </a:solidFill>
                <a:latin typeface="Inter"/>
              </a:defRPr>
            </a:pPr>
            <a:r>
              <a:t>• Генератор вырабатывает электроэнергию;</a:t>
            </a:r>
          </a:p>
          <a:p>
            <a:pPr algn="l">
              <a:lnSpc>
                <a:spcPct val="110000"/>
              </a:lnSpc>
              <a:defRPr sz="1600" b="0">
                <a:solidFill>
                  <a:srgbClr val="0A0A0A"/>
                </a:solidFill>
                <a:latin typeface="Inter"/>
              </a:defRPr>
            </a:pPr>
            <a:r>
              <a:t>• Тепло используется для отопления или технологических процессов;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863340"/>
            <a:ext cx="8046720" cy="640080"/>
          </a:xfrm>
          <a:prstGeom prst="roundRect">
            <a:avLst/>
          </a:prstGeom>
          <a:solidFill>
            <a:srgbClr val="E8F4EC"/>
          </a:solidFill>
          <a:ln>
            <a:solidFill>
              <a:srgbClr val="5EC0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600" b="1">
                <a:solidFill>
                  <a:srgbClr val="5EC062"/>
                </a:solidFill>
                <a:latin typeface="Montserrat"/>
              </a:defRPr>
            </a:pPr>
            <a:r>
              <a:t>ВАЖНО ТО, ЧТО ГПУ МОЖЕТ РАБОТАТЬ КРУГЛОСУТОЧНО, ГОДАМИ, В ПРОМЫШЛЕННОМ РЕЖИМЕ.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5EC0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8046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defRPr sz="2800" b="1">
                <a:solidFill>
                  <a:srgbClr val="0A0A0A"/>
                </a:solidFill>
                <a:latin typeface="Montserrat"/>
              </a:defRPr>
            </a:pPr>
            <a:r>
              <a:t>КАК РАБОТАЕТ ГПУ?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96112"/>
            <a:ext cx="2377440" cy="36576"/>
          </a:xfrm>
          <a:prstGeom prst="rect">
            <a:avLst/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7021" y="1143000"/>
            <a:ext cx="5989958" cy="33604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5EC0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8046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defRPr sz="2800" b="1">
                <a:solidFill>
                  <a:srgbClr val="0A0A0A"/>
                </a:solidFill>
                <a:latin typeface="Montserrat"/>
              </a:defRPr>
            </a:pPr>
            <a:r>
              <a:t>ЧТО ДАЕТ ГПУ ЗАКАЗЧИКУ?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96112"/>
            <a:ext cx="2377440" cy="36576"/>
          </a:xfrm>
          <a:prstGeom prst="rect">
            <a:avLst/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5120640" cy="33604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defRPr sz="1600" b="0">
                <a:solidFill>
                  <a:srgbClr val="0A0A0A"/>
                </a:solidFill>
                <a:latin typeface="Inter"/>
              </a:defRPr>
            </a:pPr>
            <a:r>
              <a:t>• Электроэнергия дешевле сети до 70%</a:t>
            </a:r>
          </a:p>
          <a:p>
            <a:pPr algn="l">
              <a:lnSpc>
                <a:spcPct val="110000"/>
              </a:lnSpc>
              <a:defRPr sz="1600" b="0">
                <a:solidFill>
                  <a:srgbClr val="0A0A0A"/>
                </a:solidFill>
                <a:latin typeface="Inter"/>
              </a:defRPr>
            </a:pPr>
            <a:r>
              <a:t>• Независимость от ограничений и аварий</a:t>
            </a:r>
          </a:p>
          <a:p>
            <a:pPr algn="l">
              <a:lnSpc>
                <a:spcPct val="110000"/>
              </a:lnSpc>
              <a:defRPr sz="1600" b="0">
                <a:solidFill>
                  <a:srgbClr val="0A0A0A"/>
                </a:solidFill>
                <a:latin typeface="Inter"/>
              </a:defRPr>
            </a:pPr>
            <a:r>
              <a:t>• Предсказуемая экономика</a:t>
            </a:r>
          </a:p>
          <a:p>
            <a:pPr algn="l">
              <a:lnSpc>
                <a:spcPct val="110000"/>
              </a:lnSpc>
              <a:defRPr sz="1600" b="0">
                <a:solidFill>
                  <a:srgbClr val="0A0A0A"/>
                </a:solidFill>
                <a:latin typeface="Inter"/>
              </a:defRPr>
            </a:pPr>
            <a:r>
              <a:t>• Возможность масштабирования</a:t>
            </a:r>
          </a:p>
          <a:p>
            <a:pPr algn="l">
              <a:lnSpc>
                <a:spcPct val="110000"/>
              </a:lnSpc>
              <a:defRPr sz="1600" b="0">
                <a:solidFill>
                  <a:srgbClr val="0A0A0A"/>
                </a:solidFill>
                <a:latin typeface="Inter"/>
              </a:defRPr>
            </a:pPr>
            <a:r>
              <a:t>• Использование тепла - экономия до 50%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863340"/>
            <a:ext cx="5120640" cy="640080"/>
          </a:xfrm>
          <a:prstGeom prst="roundRect">
            <a:avLst/>
          </a:prstGeom>
          <a:solidFill>
            <a:srgbClr val="E8F4EC"/>
          </a:solidFill>
          <a:ln>
            <a:solidFill>
              <a:srgbClr val="5EC0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600" b="1">
                <a:solidFill>
                  <a:srgbClr val="5EC062"/>
                </a:solidFill>
                <a:latin typeface="Montserrat"/>
              </a:defRPr>
            </a:pPr>
            <a:r>
              <a:t>ГПУ ЭТО НЕ ОБОРУДОВАНИЕ - ЭТО ИНСТРУМЕНТ УПРАВЛЕНИЯ ЭНЕРГИЕЙ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1954530"/>
            <a:ext cx="2606040" cy="17373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5EC0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8046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defRPr sz="2800" b="1">
                <a:solidFill>
                  <a:srgbClr val="0A0A0A"/>
                </a:solidFill>
                <a:latin typeface="Montserrat"/>
              </a:defRPr>
            </a:pPr>
            <a:r>
              <a:t>ЭНЕРГОЦЕНТР - ЭТО СИСТЕМА, А НЕ ОДНА УСТАНОВКА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96112"/>
            <a:ext cx="2377440" cy="36576"/>
          </a:xfrm>
          <a:prstGeom prst="rect">
            <a:avLst/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8046720" cy="731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defRPr sz="1600" b="0">
                <a:solidFill>
                  <a:srgbClr val="0A0A0A"/>
                </a:solidFill>
                <a:latin typeface="Inter"/>
              </a:defRPr>
            </a:pPr>
            <a:r>
              <a:t>Энергоцентр может состоять:</a:t>
            </a:r>
          </a:p>
          <a:p>
            <a:pPr algn="l">
              <a:lnSpc>
                <a:spcPct val="110000"/>
              </a:lnSpc>
              <a:defRPr sz="1600" b="0">
                <a:solidFill>
                  <a:srgbClr val="0A0A0A"/>
                </a:solidFill>
                <a:latin typeface="Inter"/>
              </a:defRPr>
            </a:pPr>
            <a:r>
              <a:t>Выбор зависит от: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59"/>
            <a:ext cx="8046720" cy="25374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defRPr sz="1600" b="0">
                <a:solidFill>
                  <a:srgbClr val="0A0A0A"/>
                </a:solidFill>
                <a:latin typeface="Inter"/>
              </a:defRPr>
            </a:pPr>
            <a:r>
              <a:t>• Из нескольких установок меньшей мощности;</a:t>
            </a:r>
          </a:p>
          <a:p>
            <a:pPr algn="l">
              <a:lnSpc>
                <a:spcPct val="110000"/>
              </a:lnSpc>
              <a:defRPr sz="1600" b="0">
                <a:solidFill>
                  <a:srgbClr val="0A0A0A"/>
                </a:solidFill>
                <a:latin typeface="Inter"/>
              </a:defRPr>
            </a:pPr>
            <a:r>
              <a:t>• Из меньшего количества крупных установок;</a:t>
            </a:r>
          </a:p>
          <a:p>
            <a:pPr algn="l">
              <a:lnSpc>
                <a:spcPct val="110000"/>
              </a:lnSpc>
              <a:defRPr sz="1600" b="0">
                <a:solidFill>
                  <a:srgbClr val="0A0A0A"/>
                </a:solidFill>
                <a:latin typeface="Inter"/>
              </a:defRPr>
            </a:pPr>
            <a:r>
              <a:t>• Режима работы и надежности;</a:t>
            </a:r>
          </a:p>
          <a:p>
            <a:pPr algn="l">
              <a:lnSpc>
                <a:spcPct val="110000"/>
              </a:lnSpc>
              <a:defRPr sz="1600" b="0">
                <a:solidFill>
                  <a:srgbClr val="0A0A0A"/>
                </a:solidFill>
                <a:latin typeface="Inter"/>
              </a:defRPr>
            </a:pPr>
            <a:r>
              <a:t>• Экономики и удобства обслуживания;</a:t>
            </a:r>
          </a:p>
          <a:p>
            <a:pPr algn="l">
              <a:lnSpc>
                <a:spcPct val="110000"/>
              </a:lnSpc>
              <a:defRPr sz="1600" b="0">
                <a:solidFill>
                  <a:srgbClr val="0A0A0A"/>
                </a:solidFill>
                <a:latin typeface="Inter"/>
              </a:defRPr>
            </a:pPr>
            <a:r>
              <a:t>• Универсального варианта не существует!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5EC0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8046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defRPr sz="2800" b="1">
                <a:solidFill>
                  <a:srgbClr val="0A0A0A"/>
                </a:solidFill>
                <a:latin typeface="Montserrat"/>
              </a:defRPr>
            </a:pPr>
            <a:r>
              <a:t>РЕЖИМЫ РАБОТЫ ГПУ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96112"/>
            <a:ext cx="2377440" cy="36576"/>
          </a:xfrm>
          <a:prstGeom prst="rect">
            <a:avLst/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5120640" cy="33604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defRPr sz="1600" b="0">
                <a:solidFill>
                  <a:srgbClr val="0A0A0A"/>
                </a:solidFill>
                <a:latin typeface="Inter"/>
              </a:defRPr>
            </a:pPr>
            <a:r>
              <a:t>• Таблица: режимы эксплуатации газопоршневых установок</a:t>
            </a:r>
          </a:p>
          <a:p>
            <a:pPr algn="l">
              <a:lnSpc>
                <a:spcPct val="110000"/>
              </a:lnSpc>
              <a:defRPr sz="1600" b="0">
                <a:solidFill>
                  <a:srgbClr val="0A0A0A"/>
                </a:solidFill>
                <a:latin typeface="Inter"/>
              </a:defRPr>
            </a:pPr>
            <a:r>
              <a:t>• Для круглосуточной и многолетней эксплуатации используются ГПУ, рассчитанные на режим COP (Continuous Operating Power).</a:t>
            </a:r>
          </a:p>
          <a:p>
            <a:pPr algn="l">
              <a:lnSpc>
                <a:spcPct val="110000"/>
              </a:lnSpc>
              <a:defRPr sz="1600" b="0">
                <a:solidFill>
                  <a:srgbClr val="0A0A0A"/>
                </a:solidFill>
                <a:latin typeface="Inter"/>
              </a:defRPr>
            </a:pPr>
            <a:r>
              <a:t>• Возможность работы в COP определяется конструкцией установки, а не ее мощностью.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319351"/>
            <a:ext cx="2606040" cy="100771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5EC0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8046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defRPr sz="2800" b="1">
                <a:solidFill>
                  <a:srgbClr val="0A0A0A"/>
                </a:solidFill>
                <a:latin typeface="Montserrat"/>
              </a:defRPr>
            </a:pPr>
            <a:r>
              <a:t>ИЗ ЧЕГО СОСТОИТ ГПУ?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96112"/>
            <a:ext cx="2377440" cy="36576"/>
          </a:xfrm>
          <a:prstGeom prst="rect">
            <a:avLst/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5120640" cy="33604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defRPr sz="1600" b="0">
                <a:solidFill>
                  <a:srgbClr val="0A0A0A"/>
                </a:solidFill>
                <a:latin typeface="Inter"/>
              </a:defRPr>
            </a:pPr>
            <a:r>
              <a:t>• Газовый контейнер</a:t>
            </a:r>
          </a:p>
          <a:p>
            <a:pPr algn="l">
              <a:lnSpc>
                <a:spcPct val="110000"/>
              </a:lnSpc>
              <a:defRPr sz="1600" b="0">
                <a:solidFill>
                  <a:srgbClr val="0A0A0A"/>
                </a:solidFill>
                <a:latin typeface="Inter"/>
              </a:defRPr>
            </a:pPr>
            <a:r>
              <a:t>• Генератор</a:t>
            </a:r>
          </a:p>
          <a:p>
            <a:pPr algn="l">
              <a:lnSpc>
                <a:spcPct val="110000"/>
              </a:lnSpc>
              <a:defRPr sz="1600" b="0">
                <a:solidFill>
                  <a:srgbClr val="0A0A0A"/>
                </a:solidFill>
                <a:latin typeface="Inter"/>
              </a:defRPr>
            </a:pPr>
            <a:r>
              <a:t>• Система утилизации тепла</a:t>
            </a:r>
          </a:p>
          <a:p>
            <a:pPr algn="l">
              <a:lnSpc>
                <a:spcPct val="110000"/>
              </a:lnSpc>
              <a:defRPr sz="1600" b="0">
                <a:solidFill>
                  <a:srgbClr val="0A0A0A"/>
                </a:solidFill>
                <a:latin typeface="Inter"/>
              </a:defRPr>
            </a:pPr>
            <a:r>
              <a:t>• Системы безопасности</a:t>
            </a:r>
          </a:p>
          <a:p>
            <a:pPr algn="l">
              <a:lnSpc>
                <a:spcPct val="110000"/>
              </a:lnSpc>
              <a:defRPr sz="1600" b="0">
                <a:solidFill>
                  <a:srgbClr val="0A0A0A"/>
                </a:solidFill>
                <a:latin typeface="Inter"/>
              </a:defRPr>
            </a:pPr>
            <a:r>
              <a:t>• Система охдаждения</a:t>
            </a:r>
          </a:p>
          <a:p>
            <a:pPr algn="l">
              <a:lnSpc>
                <a:spcPct val="110000"/>
              </a:lnSpc>
              <a:defRPr sz="1600" b="0">
                <a:solidFill>
                  <a:srgbClr val="0A0A0A"/>
                </a:solidFill>
                <a:latin typeface="Inter"/>
              </a:defRPr>
            </a:pPr>
            <a:r>
              <a:t>• Газовая система</a:t>
            </a:r>
          </a:p>
          <a:p>
            <a:pPr algn="l">
              <a:lnSpc>
                <a:spcPct val="110000"/>
              </a:lnSpc>
              <a:defRPr sz="1600" b="0">
                <a:solidFill>
                  <a:srgbClr val="0A0A0A"/>
                </a:solidFill>
                <a:latin typeface="Inter"/>
              </a:defRPr>
            </a:pPr>
            <a:r>
              <a:t>• Контейнер (блок- контейнер)</a:t>
            </a:r>
          </a:p>
          <a:p>
            <a:pPr algn="l">
              <a:lnSpc>
                <a:spcPct val="110000"/>
              </a:lnSpc>
              <a:defRPr sz="1600" b="0">
                <a:solidFill>
                  <a:srgbClr val="0A0A0A"/>
                </a:solidFill>
                <a:latin typeface="Inter"/>
              </a:defRPr>
            </a:pPr>
            <a:r>
              <a:t>• Система управления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1954530"/>
            <a:ext cx="2606040" cy="17373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5EC0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8046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defRPr sz="2800" b="1">
                <a:solidFill>
                  <a:srgbClr val="0A0A0A"/>
                </a:solidFill>
                <a:latin typeface="Montserrat"/>
              </a:defRPr>
            </a:pPr>
            <a:r>
              <a:t>КОНТЕЙНЕРНОЕ ИСПОЛНЕНИЕ - ЧТО ЭТО ЗНАЧИТ?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96112"/>
            <a:ext cx="2377440" cy="36576"/>
          </a:xfrm>
          <a:prstGeom prst="rect">
            <a:avLst/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8046720" cy="411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defRPr sz="1600" b="0">
                <a:solidFill>
                  <a:srgbClr val="0A0A0A"/>
                </a:solidFill>
                <a:latin typeface="Inter"/>
              </a:defRPr>
            </a:pPr>
            <a:r>
              <a:t>Контейнерные ГПУ - это готовое сертифицированное изделие: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19"/>
            <a:ext cx="3863340" cy="28575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defRPr sz="1600" b="0">
                <a:solidFill>
                  <a:srgbClr val="0A0A0A"/>
                </a:solidFill>
                <a:latin typeface="Inter"/>
              </a:defRPr>
            </a:pPr>
            <a:r>
              <a:t>• Заводская сборка;</a:t>
            </a:r>
          </a:p>
          <a:p>
            <a:pPr algn="l">
              <a:lnSpc>
                <a:spcPct val="110000"/>
              </a:lnSpc>
              <a:defRPr sz="1600" b="0">
                <a:solidFill>
                  <a:srgbClr val="0A0A0A"/>
                </a:solidFill>
                <a:latin typeface="Inter"/>
              </a:defRPr>
            </a:pPr>
            <a:r>
              <a:t>• Шумоизоляция;</a:t>
            </a:r>
          </a:p>
          <a:p>
            <a:pPr algn="l">
              <a:lnSpc>
                <a:spcPct val="110000"/>
              </a:lnSpc>
              <a:defRPr sz="1600" b="0">
                <a:solidFill>
                  <a:srgbClr val="0A0A0A"/>
                </a:solidFill>
                <a:latin typeface="Inter"/>
              </a:defRPr>
            </a:pPr>
            <a:r>
              <a:t>• Вентиляция и климат;</a:t>
            </a:r>
          </a:p>
          <a:p>
            <a:pPr algn="l">
              <a:lnSpc>
                <a:spcPct val="110000"/>
              </a:lnSpc>
              <a:defRPr sz="1600" b="0">
                <a:solidFill>
                  <a:srgbClr val="0A0A0A"/>
                </a:solidFill>
                <a:latin typeface="Inter"/>
              </a:defRPr>
            </a:pPr>
            <a:r>
              <a:t>• Пожарная и газовая безопасность;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32020" y="1645919"/>
            <a:ext cx="3863340" cy="28575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defRPr sz="1600" b="0">
                <a:solidFill>
                  <a:srgbClr val="0A0A0A"/>
                </a:solidFill>
                <a:latin typeface="Inter"/>
              </a:defRPr>
            </a:pPr>
            <a:r>
              <a:t>• Системы автоматизации и управления;</a:t>
            </a:r>
          </a:p>
          <a:p>
            <a:pPr algn="l">
              <a:lnSpc>
                <a:spcPct val="110000"/>
              </a:lnSpc>
              <a:defRPr sz="1600" b="0">
                <a:solidFill>
                  <a:srgbClr val="0A0A0A"/>
                </a:solidFill>
                <a:latin typeface="Inter"/>
              </a:defRPr>
            </a:pPr>
            <a:r>
              <a:t>• Удобство обслуживания;</a:t>
            </a:r>
          </a:p>
          <a:p>
            <a:pPr algn="l">
              <a:lnSpc>
                <a:spcPct val="110000"/>
              </a:lnSpc>
              <a:defRPr sz="1600" b="0">
                <a:solidFill>
                  <a:srgbClr val="0A0A0A"/>
                </a:solidFill>
                <a:latin typeface="Inter"/>
              </a:defRPr>
            </a:pPr>
            <a:r>
              <a:t>• Это промышленный модуль, а не временное решение.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5EC0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8046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defRPr sz="2800" b="1">
                <a:solidFill>
                  <a:srgbClr val="0A0A0A"/>
                </a:solidFill>
                <a:latin typeface="Montserrat"/>
              </a:defRPr>
            </a:pPr>
            <a:r>
              <a:t>НАСКОЛЬКО ЭТО БЕЗОПАСНО?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96112"/>
            <a:ext cx="2377440" cy="36576"/>
          </a:xfrm>
          <a:prstGeom prst="rect">
            <a:avLst/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5120640" cy="411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defRPr sz="1600" b="0">
                <a:solidFill>
                  <a:srgbClr val="0A0A0A"/>
                </a:solidFill>
                <a:latin typeface="Inter"/>
              </a:defRPr>
            </a:pPr>
            <a:r>
              <a:t>Контейнерные ГПУ: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19"/>
            <a:ext cx="5120640" cy="28575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defRPr sz="1600" b="0">
                <a:solidFill>
                  <a:srgbClr val="0A0A0A"/>
                </a:solidFill>
                <a:latin typeface="Inter"/>
              </a:defRPr>
            </a:pPr>
            <a:r>
              <a:t>• Соответствуют техническим регламентам;</a:t>
            </a:r>
          </a:p>
          <a:p>
            <a:pPr algn="l">
              <a:lnSpc>
                <a:spcPct val="110000"/>
              </a:lnSpc>
              <a:defRPr sz="1600" b="0">
                <a:solidFill>
                  <a:srgbClr val="0A0A0A"/>
                </a:solidFill>
                <a:latin typeface="Inter"/>
              </a:defRPr>
            </a:pPr>
            <a:r>
              <a:t>• Оснащены пожарной автоматикой;</a:t>
            </a:r>
          </a:p>
          <a:p>
            <a:pPr algn="l">
              <a:lnSpc>
                <a:spcPct val="110000"/>
              </a:lnSpc>
              <a:defRPr sz="1600" b="0">
                <a:solidFill>
                  <a:srgbClr val="0A0A0A"/>
                </a:solidFill>
                <a:latin typeface="Inter"/>
              </a:defRPr>
            </a:pPr>
            <a:r>
              <a:t>• Имеют газоанализ и защиту;</a:t>
            </a:r>
          </a:p>
          <a:p>
            <a:pPr algn="l">
              <a:lnSpc>
                <a:spcPct val="110000"/>
              </a:lnSpc>
              <a:defRPr sz="1600" b="0">
                <a:solidFill>
                  <a:srgbClr val="0A0A0A"/>
                </a:solidFill>
                <a:latin typeface="Inter"/>
              </a:defRPr>
            </a:pPr>
            <a:r>
              <a:t>• Защищены от аварийных режимов;</a:t>
            </a:r>
          </a:p>
          <a:p>
            <a:pPr algn="l">
              <a:lnSpc>
                <a:spcPct val="110000"/>
              </a:lnSpc>
              <a:defRPr sz="1600" b="0">
                <a:solidFill>
                  <a:srgbClr val="0A0A0A"/>
                </a:solidFill>
                <a:latin typeface="Inter"/>
              </a:defRPr>
            </a:pPr>
            <a:r>
              <a:t>• Эксплуатация сопоставима с промышленным оборудованием на заводе.</a:t>
            </a:r>
          </a:p>
        </p:txBody>
      </p:sp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1845945"/>
            <a:ext cx="2606040" cy="195453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5EC0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8046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defRPr sz="2800" b="1">
                <a:solidFill>
                  <a:srgbClr val="0A0A0A"/>
                </a:solidFill>
                <a:latin typeface="Montserrat"/>
              </a:defRPr>
            </a:pPr>
            <a:r>
              <a:t>ЭКОНОМИКА: СКОЛЬКО СТОИТ ЭЛЕКТРОЭНЕРГИЯ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96112"/>
            <a:ext cx="2377440" cy="36576"/>
          </a:xfrm>
          <a:prstGeom prst="rect">
            <a:avLst/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8046720" cy="411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defRPr sz="1600" b="0">
                <a:solidFill>
                  <a:srgbClr val="0A0A0A"/>
                </a:solidFill>
                <a:latin typeface="Inter"/>
              </a:defRPr>
            </a:pPr>
            <a:r>
              <a:t>Разница формирует основной экономический эффект.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6861" y="1645919"/>
            <a:ext cx="6370277" cy="28575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5EC0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8046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defRPr sz="2800" b="1">
                <a:solidFill>
                  <a:srgbClr val="0A0A0A"/>
                </a:solidFill>
                <a:latin typeface="Montserrat"/>
              </a:defRPr>
            </a:pPr>
            <a:r>
              <a:t>ДОПОЛНИТЕЛЬНАЯ ВЫГОДА - ТЕПЛО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96112"/>
            <a:ext cx="2377440" cy="36576"/>
          </a:xfrm>
          <a:prstGeom prst="rect">
            <a:avLst/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5120640" cy="411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defRPr sz="1600" b="0">
                <a:solidFill>
                  <a:srgbClr val="0A0A0A"/>
                </a:solidFill>
                <a:latin typeface="Inter"/>
              </a:defRPr>
            </a:pPr>
            <a:r>
              <a:t>При работе ГПУ образуется тепло,которое можно использовать: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19"/>
            <a:ext cx="5120640" cy="28575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defRPr sz="1600" b="0">
                <a:solidFill>
                  <a:srgbClr val="0A0A0A"/>
                </a:solidFill>
                <a:latin typeface="Inter"/>
              </a:defRPr>
            </a:pPr>
            <a:r>
              <a:t>• Для отопления;</a:t>
            </a:r>
          </a:p>
          <a:p>
            <a:pPr algn="l">
              <a:lnSpc>
                <a:spcPct val="110000"/>
              </a:lnSpc>
              <a:defRPr sz="1600" b="0">
                <a:solidFill>
                  <a:srgbClr val="0A0A0A"/>
                </a:solidFill>
                <a:latin typeface="Inter"/>
              </a:defRPr>
            </a:pPr>
            <a:r>
              <a:t>• Горячего водоснабжения;</a:t>
            </a:r>
          </a:p>
          <a:p>
            <a:pPr algn="l">
              <a:lnSpc>
                <a:spcPct val="110000"/>
              </a:lnSpc>
              <a:defRPr sz="1600" b="0">
                <a:solidFill>
                  <a:srgbClr val="0A0A0A"/>
                </a:solidFill>
                <a:latin typeface="Inter"/>
              </a:defRPr>
            </a:pPr>
            <a:r>
              <a:t>• Технологических процессов;</a:t>
            </a:r>
          </a:p>
          <a:p>
            <a:pPr algn="l">
              <a:lnSpc>
                <a:spcPct val="110000"/>
              </a:lnSpc>
              <a:defRPr sz="1600" b="0">
                <a:solidFill>
                  <a:srgbClr val="0A0A0A"/>
                </a:solidFill>
                <a:latin typeface="Inter"/>
              </a:defRPr>
            </a:pPr>
            <a:r>
              <a:t>• Это повышает общий КПД системы до 80-90% и ускоряет окупаемость проекта.</a:t>
            </a:r>
          </a:p>
        </p:txBody>
      </p:sp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153003"/>
            <a:ext cx="2606040" cy="134041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5EC0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8046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defRPr sz="2800" b="1">
                <a:solidFill>
                  <a:srgbClr val="0A0A0A"/>
                </a:solidFill>
                <a:latin typeface="Montserrat"/>
              </a:defRPr>
            </a:pPr>
            <a:r>
              <a:t>ГДЕ ПРИМЕНЯЮТСЯ ГПУ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96112"/>
            <a:ext cx="2377440" cy="36576"/>
          </a:xfrm>
          <a:prstGeom prst="rect">
            <a:avLst/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5120640" cy="33604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defRPr sz="1600" b="0">
                <a:solidFill>
                  <a:srgbClr val="0A0A0A"/>
                </a:solidFill>
                <a:latin typeface="Inter"/>
              </a:defRPr>
            </a:pPr>
            <a:r>
              <a:t>• На промышленных предприятиях;</a:t>
            </a:r>
          </a:p>
          <a:p>
            <a:pPr algn="l">
              <a:lnSpc>
                <a:spcPct val="110000"/>
              </a:lnSpc>
              <a:defRPr sz="1600" b="0">
                <a:solidFill>
                  <a:srgbClr val="0A0A0A"/>
                </a:solidFill>
                <a:latin typeface="Inter"/>
              </a:defRPr>
            </a:pPr>
            <a:r>
              <a:t>• В нефтегазовой отрасли;</a:t>
            </a:r>
          </a:p>
          <a:p>
            <a:pPr algn="l">
              <a:lnSpc>
                <a:spcPct val="110000"/>
              </a:lnSpc>
              <a:defRPr sz="1600" b="0">
                <a:solidFill>
                  <a:srgbClr val="0A0A0A"/>
                </a:solidFill>
                <a:latin typeface="Inter"/>
              </a:defRPr>
            </a:pPr>
            <a:r>
              <a:t>• В коммерческой недвижимости;</a:t>
            </a:r>
          </a:p>
          <a:p>
            <a:pPr algn="l">
              <a:lnSpc>
                <a:spcPct val="110000"/>
              </a:lnSpc>
              <a:defRPr sz="1600" b="0">
                <a:solidFill>
                  <a:srgbClr val="0A0A0A"/>
                </a:solidFill>
                <a:latin typeface="Inter"/>
              </a:defRPr>
            </a:pPr>
            <a:r>
              <a:t>• В автономных и удаленных зонах;</a:t>
            </a:r>
          </a:p>
          <a:p>
            <a:pPr algn="l">
              <a:lnSpc>
                <a:spcPct val="110000"/>
              </a:lnSpc>
              <a:defRPr sz="1600" b="0">
                <a:solidFill>
                  <a:srgbClr val="0A0A0A"/>
                </a:solidFill>
                <a:latin typeface="Inter"/>
              </a:defRPr>
            </a:pPr>
            <a:r>
              <a:t>• В дата-центрах и инфраструктурных проектах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863340"/>
            <a:ext cx="5120640" cy="640080"/>
          </a:xfrm>
          <a:prstGeom prst="roundRect">
            <a:avLst/>
          </a:prstGeom>
          <a:solidFill>
            <a:srgbClr val="E8F4EC"/>
          </a:solidFill>
          <a:ln>
            <a:solidFill>
              <a:srgbClr val="5EC0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600" b="1">
                <a:solidFill>
                  <a:srgbClr val="5EC062"/>
                </a:solidFill>
                <a:latin typeface="Montserrat"/>
              </a:defRPr>
            </a:pPr>
            <a:r>
              <a:t>ЭТО МИРОВОЙ СТАНДАРТ РАСПРЕДЕЛЕННОЙ ЭНЕРГЕТИКИ.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265864"/>
            <a:ext cx="2606040" cy="1114692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5EC0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8046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defRPr sz="2800" b="1">
                <a:solidFill>
                  <a:srgbClr val="0A0A0A"/>
                </a:solidFill>
                <a:latin typeface="Montserrat"/>
              </a:defRPr>
            </a:pPr>
            <a:r>
              <a:t>РОЛЬ МАЙНИНГА В ЭНЕРГЕТИКЕ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96112"/>
            <a:ext cx="2377440" cy="36576"/>
          </a:xfrm>
          <a:prstGeom prst="rect">
            <a:avLst/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8046720" cy="27203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defRPr sz="1600" b="0">
                <a:solidFill>
                  <a:srgbClr val="0A0A0A"/>
                </a:solidFill>
                <a:latin typeface="Inter"/>
              </a:defRPr>
            </a:pPr>
            <a:r>
              <a:t>• ASGard Mining Solutions не является поставщиком оборудования для майнинга</a:t>
            </a:r>
          </a:p>
          <a:p>
            <a:pPr algn="l">
              <a:lnSpc>
                <a:spcPct val="110000"/>
              </a:lnSpc>
              <a:defRPr sz="1600" b="0">
                <a:solidFill>
                  <a:srgbClr val="0A0A0A"/>
                </a:solidFill>
                <a:latin typeface="Inter"/>
              </a:defRPr>
            </a:pPr>
            <a:r>
              <a:t>• ASGard Mining Solutions - это комплексный энергетический интегратор</a:t>
            </a:r>
          </a:p>
          <a:p>
            <a:pPr algn="l">
              <a:lnSpc>
                <a:spcPct val="110000"/>
              </a:lnSpc>
              <a:defRPr sz="1600" b="0">
                <a:solidFill>
                  <a:srgbClr val="0A0A0A"/>
                </a:solidFill>
                <a:latin typeface="Inter"/>
              </a:defRPr>
            </a:pPr>
            <a:r>
              <a:t>• диверсификация потребления</a:t>
            </a:r>
          </a:p>
          <a:p>
            <a:pPr algn="l">
              <a:lnSpc>
                <a:spcPct val="110000"/>
              </a:lnSpc>
              <a:defRPr sz="1600" b="0">
                <a:solidFill>
                  <a:srgbClr val="0A0A0A"/>
                </a:solidFill>
                <a:latin typeface="Inter"/>
              </a:defRPr>
            </a:pPr>
            <a:r>
              <a:t>• источник валютной выручки</a:t>
            </a:r>
          </a:p>
          <a:p>
            <a:pPr algn="l">
              <a:lnSpc>
                <a:spcPct val="110000"/>
              </a:lnSpc>
              <a:defRPr sz="1600" b="0">
                <a:solidFill>
                  <a:srgbClr val="0A0A0A"/>
                </a:solidFill>
                <a:latin typeface="Inter"/>
              </a:defRPr>
            </a:pPr>
            <a:r>
              <a:t>• балансир энергосистемы</a:t>
            </a:r>
          </a:p>
          <a:p>
            <a:pPr algn="l">
              <a:lnSpc>
                <a:spcPct val="110000"/>
              </a:lnSpc>
              <a:defRPr sz="1600" b="0">
                <a:solidFill>
                  <a:srgbClr val="0A0A0A"/>
                </a:solidFill>
                <a:latin typeface="Inter"/>
              </a:defRPr>
            </a:pPr>
            <a:r>
              <a:t>• использование свободных и избыточных мощностей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863340"/>
            <a:ext cx="8046720" cy="640080"/>
          </a:xfrm>
          <a:prstGeom prst="roundRect">
            <a:avLst/>
          </a:prstGeom>
          <a:solidFill>
            <a:srgbClr val="E8F4EC"/>
          </a:solidFill>
          <a:ln>
            <a:solidFill>
              <a:srgbClr val="5EC0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600" b="1">
                <a:solidFill>
                  <a:srgbClr val="5EC062"/>
                </a:solidFill>
                <a:latin typeface="Montserrat"/>
              </a:defRPr>
            </a:pPr>
            <a:r>
              <a:t>МАЙНИНГ РАССМАТРИВАЕТСЯ КАК ИНСТРУМЕНТ: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F1F3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4759452"/>
            <a:ext cx="8046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defRPr sz="1000" b="0">
                <a:solidFill>
                  <a:srgbClr val="6B7280"/>
                </a:solidFill>
                <a:latin typeface="Inter"/>
              </a:defRPr>
            </a:pPr>
            <a:r>
              <a:t>@asgardchanel | +7 (800) 550-07-32 | +7 (916) 772-19-84 | info@asg-ard.ru | asg-mining.ru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5EC0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8046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defRPr sz="2800" b="1">
                <a:solidFill>
                  <a:srgbClr val="0A0A0A"/>
                </a:solidFill>
                <a:latin typeface="Montserrat"/>
              </a:defRPr>
            </a:pPr>
            <a:r>
              <a:t>РЕАЛЬНЫЙ КЕЙС: СЕТЬ И ГАЗ В МАЙНИНГЕ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96112"/>
            <a:ext cx="2377440" cy="36576"/>
          </a:xfrm>
          <a:prstGeom prst="rect">
            <a:avLst/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143000"/>
            <a:ext cx="8046720" cy="640080"/>
          </a:xfrm>
          <a:prstGeom prst="roundRect">
            <a:avLst/>
          </a:prstGeom>
          <a:solidFill>
            <a:srgbClr val="E8F4EC"/>
          </a:solidFill>
          <a:ln>
            <a:solidFill>
              <a:srgbClr val="5EC0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600" b="1">
                <a:solidFill>
                  <a:srgbClr val="5EC062"/>
                </a:solidFill>
                <a:latin typeface="Montserrat"/>
              </a:defRPr>
            </a:pPr>
            <a:r>
              <a:t>ЭТО ЧИСТАЯ ЭКОНОМИЯ, А НЕ РОСТ ДОХОДНОСТИ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1596" y="1874520"/>
            <a:ext cx="5920807" cy="26289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5EC0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8046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defRPr sz="2800" b="1">
                <a:solidFill>
                  <a:srgbClr val="0A0A0A"/>
                </a:solidFill>
                <a:latin typeface="Montserrat"/>
              </a:defRPr>
            </a:pPr>
            <a:r>
              <a:t>ПОЧЕМУ ЭТО КРИТИЧНО В 2026 ГОДУ?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96112"/>
            <a:ext cx="2377440" cy="36576"/>
          </a:xfrm>
          <a:prstGeom prst="rect">
            <a:avLst/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8046720" cy="33604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defRPr sz="1600" b="0">
                <a:solidFill>
                  <a:srgbClr val="0A0A0A"/>
                </a:solidFill>
                <a:latin typeface="Inter"/>
              </a:defRPr>
            </a:pPr>
            <a:r>
              <a:t>• ASIC у всех одинаковые;</a:t>
            </a:r>
          </a:p>
          <a:p>
            <a:pPr algn="l">
              <a:lnSpc>
                <a:spcPct val="110000"/>
              </a:lnSpc>
              <a:defRPr sz="1600" b="0">
                <a:solidFill>
                  <a:srgbClr val="0A0A0A"/>
                </a:solidFill>
                <a:latin typeface="Inter"/>
              </a:defRPr>
            </a:pPr>
            <a:r>
              <a:t>• Биткойн у всех одинаковый;</a:t>
            </a:r>
          </a:p>
          <a:p>
            <a:pPr algn="l">
              <a:lnSpc>
                <a:spcPct val="110000"/>
              </a:lnSpc>
              <a:defRPr sz="1600" b="0">
                <a:solidFill>
                  <a:srgbClr val="0A0A0A"/>
                </a:solidFill>
                <a:latin typeface="Inter"/>
              </a:defRPr>
            </a:pPr>
            <a:r>
              <a:t>• Сложность сети у всех одинаковая;</a:t>
            </a:r>
          </a:p>
          <a:p>
            <a:pPr algn="l">
              <a:lnSpc>
                <a:spcPct val="110000"/>
              </a:lnSpc>
              <a:defRPr sz="1600" b="0">
                <a:solidFill>
                  <a:srgbClr val="0A0A0A"/>
                </a:solidFill>
                <a:latin typeface="Inter"/>
              </a:defRPr>
            </a:pPr>
            <a:r>
              <a:t>• Разницу делает цена киловатта.  Именно она определяет какой именно будет доход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5EC0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8046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defRPr sz="2800" b="1">
                <a:solidFill>
                  <a:srgbClr val="0A0A0A"/>
                </a:solidFill>
                <a:latin typeface="Montserrat"/>
              </a:defRPr>
            </a:pPr>
            <a:r>
              <a:t>ЭНЕРГОСЕРВИСНЫЙ КОНТРАКТ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96112"/>
            <a:ext cx="2377440" cy="36576"/>
          </a:xfrm>
          <a:prstGeom prst="rect">
            <a:avLst/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8046720" cy="411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defRPr sz="1600" b="0">
                <a:solidFill>
                  <a:srgbClr val="0A0A0A"/>
                </a:solidFill>
                <a:latin typeface="Inter"/>
              </a:defRPr>
            </a:pPr>
            <a:r>
              <a:t>Сегодня компании сталкиваются с одними и теми же проблемами: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19"/>
            <a:ext cx="8046720" cy="22174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defRPr sz="1600" b="0">
                <a:solidFill>
                  <a:srgbClr val="0A0A0A"/>
                </a:solidFill>
                <a:latin typeface="Inter"/>
              </a:defRPr>
            </a:pPr>
            <a:r>
              <a:t>• Заказчик не инвестирует в оборудование;</a:t>
            </a:r>
          </a:p>
          <a:p>
            <a:pPr algn="l">
              <a:lnSpc>
                <a:spcPct val="110000"/>
              </a:lnSpc>
              <a:defRPr sz="1600" b="0">
                <a:solidFill>
                  <a:srgbClr val="0A0A0A"/>
                </a:solidFill>
                <a:latin typeface="Inter"/>
              </a:defRPr>
            </a:pPr>
            <a:r>
              <a:t>• Мы проектируем, строим и обслуживаем ГПЭС;</a:t>
            </a:r>
          </a:p>
          <a:p>
            <a:pPr algn="l">
              <a:lnSpc>
                <a:spcPct val="110000"/>
              </a:lnSpc>
              <a:defRPr sz="1600" b="0">
                <a:solidFill>
                  <a:srgbClr val="0A0A0A"/>
                </a:solidFill>
                <a:latin typeface="Inter"/>
              </a:defRPr>
            </a:pPr>
            <a:r>
              <a:t>• Продаем электроэнергию со скидкой 10-20%;</a:t>
            </a:r>
          </a:p>
          <a:p>
            <a:pPr algn="l">
              <a:lnSpc>
                <a:spcPct val="110000"/>
              </a:lnSpc>
              <a:defRPr sz="1600" b="0">
                <a:solidFill>
                  <a:srgbClr val="0A0A0A"/>
                </a:solidFill>
                <a:latin typeface="Inter"/>
              </a:defRPr>
            </a:pPr>
            <a:r>
              <a:t>• Все технические риски - на нас;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863340"/>
            <a:ext cx="8046720" cy="640080"/>
          </a:xfrm>
          <a:prstGeom prst="roundRect">
            <a:avLst/>
          </a:prstGeom>
          <a:solidFill>
            <a:srgbClr val="E8F4EC"/>
          </a:solidFill>
          <a:ln>
            <a:solidFill>
              <a:srgbClr val="5EC0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600" b="1">
                <a:solidFill>
                  <a:srgbClr val="5EC062"/>
                </a:solidFill>
                <a:latin typeface="Montserrat"/>
              </a:defRPr>
            </a:pPr>
            <a:r>
              <a:t>ВЫ ПОЛУЧАЕТЕ ДЕШЕВУЮ ЭНЕРГИЮ БЕЗ CAPEX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5EC0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8046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defRPr sz="2800" b="1">
                <a:solidFill>
                  <a:srgbClr val="0A0A0A"/>
                </a:solidFill>
                <a:latin typeface="Montserrat"/>
              </a:defRPr>
            </a:pPr>
            <a:r>
              <a:t>О КОМПАНИИ ASGard Mining Solutions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96112"/>
            <a:ext cx="2377440" cy="36576"/>
          </a:xfrm>
          <a:prstGeom prst="rect">
            <a:avLst/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8046720" cy="411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defRPr sz="1600" b="0">
                <a:solidFill>
                  <a:srgbClr val="0A0A0A"/>
                </a:solidFill>
                <a:latin typeface="Inter"/>
              </a:defRPr>
            </a:pPr>
            <a:r>
              <a:t>Мы выполняем полный цикл: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19"/>
            <a:ext cx="3863340" cy="28575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defRPr sz="1600" b="0">
                <a:solidFill>
                  <a:srgbClr val="0A0A0A"/>
                </a:solidFill>
                <a:latin typeface="Inter"/>
              </a:defRPr>
            </a:pPr>
            <a:r>
              <a:t>• Поставка оборудования</a:t>
            </a:r>
          </a:p>
          <a:p>
            <a:pPr algn="l">
              <a:lnSpc>
                <a:spcPct val="110000"/>
              </a:lnSpc>
              <a:defRPr sz="1600" b="0">
                <a:solidFill>
                  <a:srgbClr val="0A0A0A"/>
                </a:solidFill>
                <a:latin typeface="Inter"/>
              </a:defRPr>
            </a:pPr>
            <a:r>
              <a:t>• Подключение и пуско-наладка</a:t>
            </a:r>
          </a:p>
          <a:p>
            <a:pPr algn="l">
              <a:lnSpc>
                <a:spcPct val="110000"/>
              </a:lnSpc>
              <a:defRPr sz="1600" b="0">
                <a:solidFill>
                  <a:srgbClr val="0A0A0A"/>
                </a:solidFill>
                <a:latin typeface="Inter"/>
              </a:defRPr>
            </a:pPr>
            <a:r>
              <a:t>• Обслуживание и сервис</a:t>
            </a:r>
          </a:p>
          <a:p>
            <a:pPr algn="l">
              <a:lnSpc>
                <a:spcPct val="110000"/>
              </a:lnSpc>
              <a:defRPr sz="1600" b="0">
                <a:solidFill>
                  <a:srgbClr val="0A0A0A"/>
                </a:solidFill>
                <a:latin typeface="Inter"/>
              </a:defRPr>
            </a:pPr>
            <a:r>
              <a:t>• Строительство и монтаж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32020" y="1645919"/>
            <a:ext cx="3863340" cy="28575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defRPr sz="1600" b="0">
                <a:solidFill>
                  <a:srgbClr val="0A0A0A"/>
                </a:solidFill>
                <a:latin typeface="Inter"/>
              </a:defRPr>
            </a:pPr>
            <a:r>
              <a:t>• Проектирование</a:t>
            </a:r>
          </a:p>
          <a:p>
            <a:pPr algn="l">
              <a:lnSpc>
                <a:spcPct val="110000"/>
              </a:lnSpc>
              <a:defRPr sz="1600" b="0">
                <a:solidFill>
                  <a:srgbClr val="0A0A0A"/>
                </a:solidFill>
                <a:latin typeface="Inter"/>
              </a:defRPr>
            </a:pPr>
            <a:r>
              <a:t>• Экономический расчет и ТЭО</a:t>
            </a:r>
          </a:p>
          <a:p>
            <a:pPr algn="l">
              <a:lnSpc>
                <a:spcPct val="110000"/>
              </a:lnSpc>
              <a:defRPr sz="1600" b="0">
                <a:solidFill>
                  <a:srgbClr val="0A0A0A"/>
                </a:solidFill>
                <a:latin typeface="Inter"/>
              </a:defRPr>
            </a:pPr>
            <a:r>
              <a:t>• Один подрядчик - одна отвественность.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F1F3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759452"/>
            <a:ext cx="8046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defRPr sz="1000" b="0">
                <a:solidFill>
                  <a:srgbClr val="6B7280"/>
                </a:solidFill>
                <a:latin typeface="Inter"/>
              </a:defRPr>
            </a:pPr>
            <a:r>
              <a:t>Москва, 2-й Кабельный проезд, 2А | @asgardchanel | +7 (800) 550-07-32 | +7 (916) 772-19-84 | info@asg-ard.ru | asg-mining.ru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5EC0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8046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defRPr sz="2800" b="1">
                <a:solidFill>
                  <a:srgbClr val="0A0A0A"/>
                </a:solidFill>
                <a:latin typeface="Montserrat"/>
              </a:defRPr>
            </a:pPr>
            <a:r>
              <a:t>СЛЕДУЮЩИЙ ШАГ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96112"/>
            <a:ext cx="2377440" cy="36576"/>
          </a:xfrm>
          <a:prstGeom prst="rect">
            <a:avLst/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8046720" cy="731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defRPr sz="1600" b="0">
                <a:solidFill>
                  <a:srgbClr val="0A0A0A"/>
                </a:solidFill>
                <a:latin typeface="Inter"/>
              </a:defRPr>
            </a:pPr>
            <a:r>
              <a:t>Для подготовки решения:</a:t>
            </a:r>
          </a:p>
          <a:p>
            <a:pPr algn="l">
              <a:lnSpc>
                <a:spcPct val="110000"/>
              </a:lnSpc>
              <a:defRPr sz="1600" b="0">
                <a:solidFill>
                  <a:srgbClr val="0A0A0A"/>
                </a:solidFill>
                <a:latin typeface="Inter"/>
              </a:defRPr>
            </a:pPr>
            <a:r>
              <a:t>Выполняется запись на встречу;</a:t>
            </a:r>
            <a:br/>
            <a:r>
              <a:t>Выполняется расчет;</a:t>
            </a:r>
            <a:br/>
            <a:r>
              <a:t>Подбирается оптимальная конфигурация.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771900"/>
            <a:ext cx="2926080" cy="548640"/>
          </a:xfrm>
          <a:prstGeom prst="roundRect">
            <a:avLst/>
          </a:prstGeom>
          <a:solidFill>
            <a:srgbClr val="5EC062"/>
          </a:solidFill>
          <a:ln>
            <a:solidFill>
              <a:srgbClr val="5EC0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ОСТАВИТЬ ЗАЯВКУ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49040" y="3771900"/>
            <a:ext cx="2926080" cy="548640"/>
          </a:xfrm>
          <a:prstGeom prst="roundRect">
            <a:avLst/>
          </a:prstGeom>
          <a:solidFill>
            <a:srgbClr val="5EC062"/>
          </a:solidFill>
          <a:ln>
            <a:solidFill>
              <a:srgbClr val="5EC0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ЗАПИСАТЬСЯ НА ВСТРЕЧУ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F1F3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759452"/>
            <a:ext cx="8046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defRPr sz="1000" b="0">
                <a:solidFill>
                  <a:srgbClr val="6B7280"/>
                </a:solidFill>
                <a:latin typeface="Inter"/>
              </a:defRPr>
            </a:pPr>
            <a:r>
              <a:t>Москва, 2-й Кабельный проезд, 2А | @asgardchanel | +7 (800) 550-07-32 | +7 (916) 772-19-84 | info@asg-ard.ru | asg-mining.ru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