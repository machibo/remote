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Inter SemiBold"/>
      <p:regular r:id="rId26"/>
      <p:bold r:id="rId27"/>
      <p:italic r:id="rId28"/>
      <p:boldItalic r:id="rId29"/>
    </p:embeddedFont>
    <p:embeddedFont>
      <p:font typeface="Montserrat"/>
      <p:regular r:id="rId30"/>
      <p:bold r:id="rId31"/>
      <p:italic r:id="rId32"/>
      <p:boldItalic r:id="rId33"/>
    </p:embeddedFont>
    <p:embeddedFont>
      <p:font typeface="Inter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regular.fntdata"/><Relationship Id="rId25" Type="http://schemas.openxmlformats.org/officeDocument/2006/relationships/slide" Target="slides/slide20.xml"/><Relationship Id="rId28" Type="http://schemas.openxmlformats.org/officeDocument/2006/relationships/font" Target="fonts/InterSemiBold-italic.fntdata"/><Relationship Id="rId27" Type="http://schemas.openxmlformats.org/officeDocument/2006/relationships/font" Target="fonts/Inter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8.xml"/><Relationship Id="rId35" Type="http://schemas.openxmlformats.org/officeDocument/2006/relationships/font" Target="fonts/Inter-bold.fntdata"/><Relationship Id="rId12" Type="http://schemas.openxmlformats.org/officeDocument/2006/relationships/slide" Target="slides/slide7.xml"/><Relationship Id="rId34" Type="http://schemas.openxmlformats.org/officeDocument/2006/relationships/font" Target="fonts/Inter-regular.fntdata"/><Relationship Id="rId15" Type="http://schemas.openxmlformats.org/officeDocument/2006/relationships/slide" Target="slides/slide10.xml"/><Relationship Id="rId37" Type="http://schemas.openxmlformats.org/officeDocument/2006/relationships/font" Target="fonts/Inter-boldItalic.fntdata"/><Relationship Id="rId14" Type="http://schemas.openxmlformats.org/officeDocument/2006/relationships/slide" Target="slides/slide9.xml"/><Relationship Id="rId36" Type="http://schemas.openxmlformats.org/officeDocument/2006/relationships/font" Target="fonts/Inter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bee89580_0_32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3bee8958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279983783_0_22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27998378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279983783_0_65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27998378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279983783_0_88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279983783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279983783_0_108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27998378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279983783_0_132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27998378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279983783_0_184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279983783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279983783_0_210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279983783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279983783_0_231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279983783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279983783_0_247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279983783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279983783_0_269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9279983783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279983783_0_297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9279983783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279983783_0_316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9279983783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279983783_0_334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27998378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279983783_0_355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9279983783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279983783_0_418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279983783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9279983783_0_438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9279983783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279983783_0_462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9279983783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9279983783_0_486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9279983783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9279983783_0_528:notes"/>
          <p:cNvSpPr/>
          <p:nvPr>
            <p:ph idx="2" type="sldImg"/>
          </p:nvPr>
        </p:nvSpPr>
        <p:spPr>
          <a:xfrm>
            <a:off x="38128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9279983783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3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hyperlink" Target="https://wa.me/79263698377" TargetMode="External"/><Relationship Id="rId11" Type="http://schemas.openxmlformats.org/officeDocument/2006/relationships/hyperlink" Target="https://asg-mining.ru/" TargetMode="External"/><Relationship Id="rId22" Type="http://schemas.openxmlformats.org/officeDocument/2006/relationships/image" Target="../media/image3.png"/><Relationship Id="rId10" Type="http://schemas.openxmlformats.org/officeDocument/2006/relationships/hyperlink" Target="mailto:info@asg-ard.ru" TargetMode="External"/><Relationship Id="rId21" Type="http://schemas.openxmlformats.org/officeDocument/2006/relationships/image" Target="../media/image8.png"/><Relationship Id="rId13" Type="http://schemas.openxmlformats.org/officeDocument/2006/relationships/image" Target="../media/image1.png"/><Relationship Id="rId12" Type="http://schemas.openxmlformats.org/officeDocument/2006/relationships/hyperlink" Target="mailto:info@asg-ard.ru" TargetMode="External"/><Relationship Id="rId23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hyperlink" Target="https://yandex.ru/maps/213/moscow/house/2_y_kabelny_proyezd_2a/Z04YcQZmTkQOQFtvfXt1d31jZQ==/?ll=37.717916%2C55.747089&amp;z=17" TargetMode="External"/><Relationship Id="rId9" Type="http://schemas.openxmlformats.org/officeDocument/2006/relationships/hyperlink" Target="tel:+78005500732" TargetMode="External"/><Relationship Id="rId15" Type="http://schemas.openxmlformats.org/officeDocument/2006/relationships/image" Target="../media/image6.png"/><Relationship Id="rId14" Type="http://schemas.openxmlformats.org/officeDocument/2006/relationships/hyperlink" Target="https://t.me/ASGmining_bot" TargetMode="External"/><Relationship Id="rId17" Type="http://schemas.openxmlformats.org/officeDocument/2006/relationships/image" Target="../media/image5.png"/><Relationship Id="rId16" Type="http://schemas.openxmlformats.org/officeDocument/2006/relationships/hyperlink" Target="tel:+78005500732" TargetMode="External"/><Relationship Id="rId5" Type="http://schemas.openxmlformats.org/officeDocument/2006/relationships/hyperlink" Target="https://yandex.ru/maps/213/moscow/house/2_y_kabelny_proyezd_2a/Z04YcQZmTkQOQFtvfXt1d31jZQ==/?ll=37.717916%2C55.747089&amp;z=17" TargetMode="External"/><Relationship Id="rId19" Type="http://schemas.openxmlformats.org/officeDocument/2006/relationships/image" Target="../media/image7.png"/><Relationship Id="rId6" Type="http://schemas.openxmlformats.org/officeDocument/2006/relationships/image" Target="../media/image2.png"/><Relationship Id="rId18" Type="http://schemas.openxmlformats.org/officeDocument/2006/relationships/hyperlink" Target="https://asg-mining.ru/" TargetMode="External"/><Relationship Id="rId7" Type="http://schemas.openxmlformats.org/officeDocument/2006/relationships/hyperlink" Target="https://t.me/+_uNqE0hUfi0xODRi" TargetMode="External"/><Relationship Id="rId8" Type="http://schemas.openxmlformats.org/officeDocument/2006/relationships/hyperlink" Target="https://t.me/+JiznK7n2wA8yMzMy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hyperlink" Target="https://t.me/ASGmining_bot" TargetMode="External"/><Relationship Id="rId10" Type="http://schemas.openxmlformats.org/officeDocument/2006/relationships/image" Target="../media/image1.png"/><Relationship Id="rId13" Type="http://schemas.openxmlformats.org/officeDocument/2006/relationships/hyperlink" Target="tel:+78005500732" TargetMode="External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hyperlink" Target="https://t.me/+_uNqE0hUfi0xODRi" TargetMode="External"/><Relationship Id="rId9" Type="http://schemas.openxmlformats.org/officeDocument/2006/relationships/hyperlink" Target="mailto:info@asg-ard.ru" TargetMode="External"/><Relationship Id="rId15" Type="http://schemas.openxmlformats.org/officeDocument/2006/relationships/hyperlink" Target="https://asg-mining.ru/" TargetMode="External"/><Relationship Id="rId14" Type="http://schemas.openxmlformats.org/officeDocument/2006/relationships/image" Target="../media/image5.png"/><Relationship Id="rId17" Type="http://schemas.openxmlformats.org/officeDocument/2006/relationships/hyperlink" Target="https://wa.me/79263698377" TargetMode="External"/><Relationship Id="rId16" Type="http://schemas.openxmlformats.org/officeDocument/2006/relationships/image" Target="../media/image7.png"/><Relationship Id="rId5" Type="http://schemas.openxmlformats.org/officeDocument/2006/relationships/hyperlink" Target="https://t.me/+JiznK7n2wA8yMzMy" TargetMode="External"/><Relationship Id="rId19" Type="http://schemas.openxmlformats.org/officeDocument/2006/relationships/image" Target="../media/image3.png"/><Relationship Id="rId6" Type="http://schemas.openxmlformats.org/officeDocument/2006/relationships/hyperlink" Target="tel:+78005500732" TargetMode="External"/><Relationship Id="rId18" Type="http://schemas.openxmlformats.org/officeDocument/2006/relationships/image" Target="../media/image8.png"/><Relationship Id="rId7" Type="http://schemas.openxmlformats.org/officeDocument/2006/relationships/hyperlink" Target="mailto:info@asg-ard.ru" TargetMode="External"/><Relationship Id="rId8" Type="http://schemas.openxmlformats.org/officeDocument/2006/relationships/hyperlink" Target="https://asg-mining.ru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20" Type="http://schemas.openxmlformats.org/officeDocument/2006/relationships/hyperlink" Target="https://wa.me/79263698377" TargetMode="External"/><Relationship Id="rId11" Type="http://schemas.openxmlformats.org/officeDocument/2006/relationships/hyperlink" Target="https://asg-mining.ru/" TargetMode="External"/><Relationship Id="rId22" Type="http://schemas.openxmlformats.org/officeDocument/2006/relationships/image" Target="../media/image3.png"/><Relationship Id="rId10" Type="http://schemas.openxmlformats.org/officeDocument/2006/relationships/hyperlink" Target="mailto:info@asg-ard.ru" TargetMode="External"/><Relationship Id="rId21" Type="http://schemas.openxmlformats.org/officeDocument/2006/relationships/image" Target="../media/image8.png"/><Relationship Id="rId13" Type="http://schemas.openxmlformats.org/officeDocument/2006/relationships/image" Target="../media/image1.png"/><Relationship Id="rId12" Type="http://schemas.openxmlformats.org/officeDocument/2006/relationships/hyperlink" Target="mailto:info@asg-ard.ru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hyperlink" Target="https://yandex.ru/maps/213/moscow/house/2_y_kabelny_proyezd_2a/Z04YcQZmTkQOQFtvfXt1d31jZQ==/?ll=37.717916%2C55.747089&amp;z=17" TargetMode="External"/><Relationship Id="rId9" Type="http://schemas.openxmlformats.org/officeDocument/2006/relationships/hyperlink" Target="tel:+78005500732" TargetMode="External"/><Relationship Id="rId15" Type="http://schemas.openxmlformats.org/officeDocument/2006/relationships/image" Target="../media/image6.png"/><Relationship Id="rId14" Type="http://schemas.openxmlformats.org/officeDocument/2006/relationships/hyperlink" Target="https://t.me/ASGmining_bot" TargetMode="External"/><Relationship Id="rId17" Type="http://schemas.openxmlformats.org/officeDocument/2006/relationships/image" Target="../media/image5.png"/><Relationship Id="rId16" Type="http://schemas.openxmlformats.org/officeDocument/2006/relationships/hyperlink" Target="tel:+78005500732" TargetMode="External"/><Relationship Id="rId5" Type="http://schemas.openxmlformats.org/officeDocument/2006/relationships/hyperlink" Target="https://yandex.ru/maps/213/moscow/house/2_y_kabelny_proyezd_2a/Z04YcQZmTkQOQFtvfXt1d31jZQ==/?ll=37.717916%2C55.747089&amp;z=17" TargetMode="External"/><Relationship Id="rId19" Type="http://schemas.openxmlformats.org/officeDocument/2006/relationships/image" Target="../media/image7.png"/><Relationship Id="rId6" Type="http://schemas.openxmlformats.org/officeDocument/2006/relationships/image" Target="../media/image2.png"/><Relationship Id="rId18" Type="http://schemas.openxmlformats.org/officeDocument/2006/relationships/hyperlink" Target="https://asg-mining.ru/" TargetMode="External"/><Relationship Id="rId7" Type="http://schemas.openxmlformats.org/officeDocument/2006/relationships/hyperlink" Target="https://t.me/+_uNqE0hUfi0xODRi" TargetMode="External"/><Relationship Id="rId8" Type="http://schemas.openxmlformats.org/officeDocument/2006/relationships/hyperlink" Target="https://t.me/+JiznK7n2wA8yMzMy" TargetMode="External"/></Relationships>
</file>

<file path=ppt/slides/_rels/slide20.xml.rels><?xml version="1.0" encoding="UTF-8" standalone="yes"?><Relationships xmlns="http://schemas.openxmlformats.org/package/2006/relationships"><Relationship Id="rId20" Type="http://schemas.openxmlformats.org/officeDocument/2006/relationships/hyperlink" Target="https://wa.me/79263698377" TargetMode="External"/><Relationship Id="rId11" Type="http://schemas.openxmlformats.org/officeDocument/2006/relationships/hyperlink" Target="https://asg-mining.ru/" TargetMode="External"/><Relationship Id="rId22" Type="http://schemas.openxmlformats.org/officeDocument/2006/relationships/image" Target="../media/image3.png"/><Relationship Id="rId10" Type="http://schemas.openxmlformats.org/officeDocument/2006/relationships/hyperlink" Target="mailto:info@asg-ard.ru" TargetMode="External"/><Relationship Id="rId21" Type="http://schemas.openxmlformats.org/officeDocument/2006/relationships/image" Target="../media/image8.png"/><Relationship Id="rId13" Type="http://schemas.openxmlformats.org/officeDocument/2006/relationships/image" Target="../media/image1.png"/><Relationship Id="rId24" Type="http://schemas.openxmlformats.org/officeDocument/2006/relationships/hyperlink" Target="tel:+7%20926%20396%2083%2077" TargetMode="External"/><Relationship Id="rId12" Type="http://schemas.openxmlformats.org/officeDocument/2006/relationships/hyperlink" Target="mailto:info@asg-ard.ru" TargetMode="External"/><Relationship Id="rId23" Type="http://schemas.openxmlformats.org/officeDocument/2006/relationships/hyperlink" Target="http://t.me/Natalia_Asg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hyperlink" Target="https://yandex.ru/maps/213/moscow/house/2_y_kabelny_proyezd_2a/Z04YcQZmTkQOQFtvfXt1d31jZQ==/?ll=37.717916%2C55.747089&amp;z=17" TargetMode="External"/><Relationship Id="rId9" Type="http://schemas.openxmlformats.org/officeDocument/2006/relationships/hyperlink" Target="tel:+78005500732" TargetMode="External"/><Relationship Id="rId15" Type="http://schemas.openxmlformats.org/officeDocument/2006/relationships/image" Target="../media/image6.png"/><Relationship Id="rId14" Type="http://schemas.openxmlformats.org/officeDocument/2006/relationships/hyperlink" Target="https://t.me/ASGmining_bot" TargetMode="External"/><Relationship Id="rId17" Type="http://schemas.openxmlformats.org/officeDocument/2006/relationships/image" Target="../media/image5.png"/><Relationship Id="rId16" Type="http://schemas.openxmlformats.org/officeDocument/2006/relationships/hyperlink" Target="tel:+78005500732" TargetMode="External"/><Relationship Id="rId5" Type="http://schemas.openxmlformats.org/officeDocument/2006/relationships/hyperlink" Target="https://yandex.ru/maps/213/moscow/house/2_y_kabelny_proyezd_2a/Z04YcQZmTkQOQFtvfXt1d31jZQ==/?ll=37.717916%2C55.747089&amp;z=17" TargetMode="External"/><Relationship Id="rId19" Type="http://schemas.openxmlformats.org/officeDocument/2006/relationships/image" Target="../media/image7.png"/><Relationship Id="rId6" Type="http://schemas.openxmlformats.org/officeDocument/2006/relationships/image" Target="../media/image2.png"/><Relationship Id="rId18" Type="http://schemas.openxmlformats.org/officeDocument/2006/relationships/hyperlink" Target="https://asg-mining.ru/" TargetMode="External"/><Relationship Id="rId7" Type="http://schemas.openxmlformats.org/officeDocument/2006/relationships/hyperlink" Target="https://t.me/+_uNqE0hUfi0xODRi" TargetMode="External"/><Relationship Id="rId8" Type="http://schemas.openxmlformats.org/officeDocument/2006/relationships/hyperlink" Target="https://t.me/+JiznK7n2wA8yMzM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806000" y="4718075"/>
            <a:ext cx="30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 u="sng">
                <a:solidFill>
                  <a:srgbClr val="5EC062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Москва, 2-й Кабельный проезд, 2А</a:t>
            </a:r>
            <a:endParaRPr b="1" sz="1200">
              <a:solidFill>
                <a:srgbClr val="5EC0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" name="Google Shape;55;p1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96020" y="4847739"/>
            <a:ext cx="109971" cy="10997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8817051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>
            <a:hlinkClick r:id="rId7"/>
          </p:cNvPr>
          <p:cNvSpPr txBox="1"/>
          <p:nvPr/>
        </p:nvSpPr>
        <p:spPr>
          <a:xfrm>
            <a:off x="1400800" y="543300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>
                <a:solidFill>
                  <a:srgbClr val="0097A7"/>
                </a:solidFill>
                <a:latin typeface="Inter"/>
                <a:ea typeface="Inter"/>
                <a:cs typeface="Inter"/>
                <a:sym typeface="Inter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@asgardchanel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400800" y="802075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latin typeface="Inter"/>
                <a:ea typeface="Inter"/>
                <a:cs typeface="Inter"/>
                <a:sym typeface="Inter"/>
              </a:rPr>
              <a:t>+7 (916) 772-19-84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496250" y="543300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+7 (800) 550-07-32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6496250" y="802075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info@asg-ard.ru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966475" y="887325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asg-mining.ru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3">
            <a:hlinkClick r:id="rId12"/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659625" y="882012"/>
            <a:ext cx="162676" cy="16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>
            <a:hlinkClick r:id="rId14"/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291400" y="623300"/>
            <a:ext cx="162676" cy="16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>
            <a:hlinkClick r:id="rId16"/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421375" y="623304"/>
            <a:ext cx="162676" cy="162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>
            <a:hlinkClick r:id="rId18"/>
          </p:cNvPr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054225" y="985202"/>
            <a:ext cx="162676" cy="16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>
            <a:hlinkClick r:id="rId20"/>
          </p:cNvPr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291400" y="882000"/>
            <a:ext cx="162676" cy="1626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/>
          <p:nvPr/>
        </p:nvSpPr>
        <p:spPr>
          <a:xfrm>
            <a:off x="910813" y="303662"/>
            <a:ext cx="7322400" cy="978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69" name="Google Shape;69;p13" title="Group_214_s 2 (3).png"/>
          <p:cNvPicPr preferRelativeResize="0"/>
          <p:nvPr/>
        </p:nvPicPr>
        <p:blipFill rotWithShape="1">
          <a:blip r:embed="rId22">
            <a:alphaModFix/>
          </a:blip>
          <a:srcRect b="0" l="19348" r="0" t="0"/>
          <a:stretch/>
        </p:blipFill>
        <p:spPr>
          <a:xfrm>
            <a:off x="4047450" y="623300"/>
            <a:ext cx="1049113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/>
        </p:nvSpPr>
        <p:spPr>
          <a:xfrm>
            <a:off x="1085700" y="1397175"/>
            <a:ext cx="69726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ГАЗОПОРШНЕВЫЕ </a:t>
            </a: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ЭЛЕКТРОСТАНЦИИ</a:t>
            </a: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(ГПУ/ГПЭС)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СОБСТВЕННАЯ ГЕНЕРАЦИЯ </a:t>
            </a: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ЭЛЕКТРОЭНЕРГИИ</a:t>
            </a: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 И ТЕПЛА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1085700" y="2096450"/>
            <a:ext cx="69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ПОНЯТНОЕ РЕШЕНИЕ ДЛЯ БИЗНЕСА, ПРОМЫШЛЕННОСТИ И ИНФРАСТРУКТУРЫ</a:t>
            </a:r>
            <a:r>
              <a:rPr b="1" lang="ru" sz="12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6143838" y="3007113"/>
            <a:ext cx="151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EC06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0" y="3261920"/>
            <a:ext cx="9144000" cy="338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3" title="sticker 13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2417794" y="2605075"/>
            <a:ext cx="4166255" cy="1782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607550" y="1640800"/>
            <a:ext cx="7353600" cy="2549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1" name="Google Shape;81;p14"/>
          <p:cNvSpPr txBox="1"/>
          <p:nvPr/>
        </p:nvSpPr>
        <p:spPr>
          <a:xfrm>
            <a:off x="1085700" y="56945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ПОЧЕМУ БИЗНЕСУ НУЖНА СОБСТВЕННАЯ ГЕНЕРАЦИЯ?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1386200" y="1135875"/>
            <a:ext cx="631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Сегодня компании сталкиваются с одними и теми же проблемами:</a:t>
            </a:r>
            <a:endParaRPr i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718250" y="1717788"/>
            <a:ext cx="73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Рост тарифов на электроэнергию более 15% в 2025 году;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204050" y="183243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718250" y="2301588"/>
            <a:ext cx="678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Дефицит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 доступной мощности от 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сетей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696950" y="3530363"/>
            <a:ext cx="76893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Перебои, ограничения и аварийные отключения, а также простои и прямые убытки;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718250" y="2982538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Высокая стоимость 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резервного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 питания;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204050" y="240718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204050" y="308523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204050" y="375881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91" name="Google Shape;91;p14"/>
          <p:cNvSpPr/>
          <p:nvPr/>
        </p:nvSpPr>
        <p:spPr>
          <a:xfrm rot="5400000">
            <a:off x="5852850" y="2464350"/>
            <a:ext cx="5169600" cy="2148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881700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3" name="Google Shape;93;p14"/>
          <p:cNvSpPr txBox="1"/>
          <p:nvPr/>
        </p:nvSpPr>
        <p:spPr>
          <a:xfrm>
            <a:off x="454100" y="4432400"/>
            <a:ext cx="750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Вывод: </a:t>
            </a: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Электроэнергия становится стратегическим ресурсом бизнеса.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 rot="10800000">
            <a:off x="613450" y="3903175"/>
            <a:ext cx="7362900" cy="4701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607550" y="1640800"/>
            <a:ext cx="7353600" cy="19194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1" name="Google Shape;101;p15"/>
          <p:cNvSpPr txBox="1"/>
          <p:nvPr/>
        </p:nvSpPr>
        <p:spPr>
          <a:xfrm>
            <a:off x="1085700" y="56945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ЧТО ТАКОЕ ГПУ/ГПЭС - ПРОСТЫМИ СЛОВАМИ?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1386200" y="1135875"/>
            <a:ext cx="631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Газопоршневая установка - это электростанция, которая:</a:t>
            </a:r>
            <a:endParaRPr i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718250" y="1717788"/>
            <a:ext cx="73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Работает на газе;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204050" y="183243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18250" y="2301588"/>
            <a:ext cx="678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Производит электроэнергию прямо на 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объекте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600100" y="3930475"/>
            <a:ext cx="7389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ГАЗ </a:t>
            </a:r>
            <a:r>
              <a:rPr lang="ru" sz="1200">
                <a:solidFill>
                  <a:srgbClr val="0A0A0A"/>
                </a:solidFill>
              </a:rPr>
              <a:t>→</a:t>
            </a: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 ДВИГАТЕЛЬ </a:t>
            </a:r>
            <a:r>
              <a:rPr lang="ru" sz="1200">
                <a:solidFill>
                  <a:srgbClr val="0A0A0A"/>
                </a:solidFill>
              </a:rPr>
              <a:t>→</a:t>
            </a: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 ЭЛЕКТРИЧЕСТВО </a:t>
            </a:r>
            <a:r>
              <a:rPr lang="ru" sz="1200">
                <a:solidFill>
                  <a:srgbClr val="0A0A0A"/>
                </a:solidFill>
              </a:rPr>
              <a:t>→</a:t>
            </a: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 ТЕПЛО </a:t>
            </a:r>
            <a:r>
              <a:rPr lang="ru" sz="1200">
                <a:solidFill>
                  <a:srgbClr val="0A0A0A"/>
                </a:solidFill>
              </a:rPr>
              <a:t>→</a:t>
            </a: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 ЭКОНОМИЯ ДО 70%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718250" y="2982538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Дополнительно дает полезное тепло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204050" y="240718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204050" y="308523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204050" y="405998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881700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607550" y="1170825"/>
            <a:ext cx="7353600" cy="26295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18" name="Google Shape;118;p16"/>
          <p:cNvSpPr txBox="1"/>
          <p:nvPr/>
        </p:nvSpPr>
        <p:spPr>
          <a:xfrm>
            <a:off x="1085700" y="56945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КАК РАБОТАЕТ ГПУ?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718250" y="1247813"/>
            <a:ext cx="73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Газ поступает в двигатель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204050" y="136246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718250" y="1831613"/>
            <a:ext cx="678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Двигатель вращает генератор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221450" y="4033625"/>
            <a:ext cx="7775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ВАЖНО ТО, ЧТО ГПУ МОЖЕТ РАБОТАТЬ КРУГЛОСУТОЧНО, ГОДАМИ, В ПРОМЫШЛЕННОМ РЕЖИМЕ.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718250" y="2512563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Генератор 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вырабатывает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 электроэнергию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204050" y="193721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204050" y="261526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881700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7" name="Google Shape;127;p16"/>
          <p:cNvSpPr/>
          <p:nvPr/>
        </p:nvSpPr>
        <p:spPr>
          <a:xfrm rot="5400000">
            <a:off x="5852850" y="2464350"/>
            <a:ext cx="5169600" cy="2148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92325" y="3032288"/>
            <a:ext cx="50550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Тепло используется для отопления или технологических процессов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204050" y="329331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0" y="672800"/>
            <a:ext cx="6921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5" name="Google Shape;135;p17"/>
          <p:cNvSpPr txBox="1"/>
          <p:nvPr/>
        </p:nvSpPr>
        <p:spPr>
          <a:xfrm>
            <a:off x="1085700" y="56945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КАК РАБОТАЕТ ГПУ?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8451875" y="672800"/>
            <a:ext cx="6921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37" name="Google Shape;137;p17" title="IMG_19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126" y="243076"/>
            <a:ext cx="7759752" cy="435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1416600" y="4660600"/>
            <a:ext cx="631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Линейная flow-схема</a:t>
            </a:r>
            <a:endParaRPr i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9" name="Google Shape;139;p17"/>
          <p:cNvCxnSpPr/>
          <p:nvPr/>
        </p:nvCxnSpPr>
        <p:spPr>
          <a:xfrm>
            <a:off x="378575" y="1148800"/>
            <a:ext cx="0" cy="3707400"/>
          </a:xfrm>
          <a:prstGeom prst="straightConnector1">
            <a:avLst/>
          </a:prstGeom>
          <a:noFill/>
          <a:ln cap="flat" cmpd="sng" w="9525">
            <a:solidFill>
              <a:srgbClr val="5EC06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17"/>
          <p:cNvCxnSpPr/>
          <p:nvPr/>
        </p:nvCxnSpPr>
        <p:spPr>
          <a:xfrm>
            <a:off x="522175" y="4853050"/>
            <a:ext cx="2624100" cy="0"/>
          </a:xfrm>
          <a:prstGeom prst="straightConnector1">
            <a:avLst/>
          </a:prstGeom>
          <a:noFill/>
          <a:ln cap="flat" cmpd="sng" w="9525">
            <a:solidFill>
              <a:srgbClr val="5EC06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17"/>
          <p:cNvCxnSpPr/>
          <p:nvPr/>
        </p:nvCxnSpPr>
        <p:spPr>
          <a:xfrm>
            <a:off x="8859775" y="1148800"/>
            <a:ext cx="0" cy="3707400"/>
          </a:xfrm>
          <a:prstGeom prst="straightConnector1">
            <a:avLst/>
          </a:prstGeom>
          <a:noFill/>
          <a:ln cap="flat" cmpd="sng" w="9525">
            <a:solidFill>
              <a:srgbClr val="5EC06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7"/>
          <p:cNvCxnSpPr/>
          <p:nvPr/>
        </p:nvCxnSpPr>
        <p:spPr>
          <a:xfrm rot="10800000">
            <a:off x="6026950" y="4853050"/>
            <a:ext cx="2624100" cy="0"/>
          </a:xfrm>
          <a:prstGeom prst="straightConnector1">
            <a:avLst/>
          </a:prstGeom>
          <a:noFill/>
          <a:ln cap="flat" cmpd="sng" w="9525">
            <a:solidFill>
              <a:srgbClr val="5EC06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 rot="10800000">
            <a:off x="598500" y="4638450"/>
            <a:ext cx="7947000" cy="302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9" name="Google Shape;149;p18"/>
          <p:cNvSpPr txBox="1"/>
          <p:nvPr/>
        </p:nvSpPr>
        <p:spPr>
          <a:xfrm>
            <a:off x="1085700" y="56945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ЧТО ДАЕТ ГПУ ЗАКАЗЧИКУ?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616475" y="1681263"/>
            <a:ext cx="73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Электроэнергия дешевле сети до 70%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102275" y="179591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616475" y="2265063"/>
            <a:ext cx="678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Независимость от ограничений и аварий 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581850" y="4582050"/>
            <a:ext cx="798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ГПУ ЭТО НЕ ОБОРУДОВАНИЕ - ЭТО ИНСТРУМЕНТ </a:t>
            </a: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УПРАВЛЕНИЯ</a:t>
            </a: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 ЭНЕРГИЕЙ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633875" y="2799025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Предсказуемая экономика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102275" y="237066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19675" y="2901725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881700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58" name="Google Shape;158;p18"/>
          <p:cNvSpPr txBox="1"/>
          <p:nvPr/>
        </p:nvSpPr>
        <p:spPr>
          <a:xfrm>
            <a:off x="633875" y="3309213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Возможность 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масштабирования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119675" y="3425825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633875" y="3759550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Использование тепла - экономия до 50%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19675" y="3872950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pic>
        <p:nvPicPr>
          <p:cNvPr id="162" name="Google Shape;162;p18" title="IMG_19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925" y="1419000"/>
            <a:ext cx="4344276" cy="28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/>
          <p:nvPr/>
        </p:nvSpPr>
        <p:spPr>
          <a:xfrm>
            <a:off x="607550" y="1681275"/>
            <a:ext cx="3964500" cy="24774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/>
          <p:nvPr/>
        </p:nvSpPr>
        <p:spPr>
          <a:xfrm>
            <a:off x="607550" y="1640800"/>
            <a:ext cx="8047500" cy="11808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70" name="Google Shape;170;p19"/>
          <p:cNvSpPr txBox="1"/>
          <p:nvPr/>
        </p:nvSpPr>
        <p:spPr>
          <a:xfrm>
            <a:off x="1085700" y="56945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ЭНЕРГОЦЕНТР - ЭТО СИСТЕМА, А НЕ ОДНА УСТАНОВКА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1386200" y="1135875"/>
            <a:ext cx="631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Энергоцентр может состоять:</a:t>
            </a:r>
            <a:endParaRPr i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718250" y="1717788"/>
            <a:ext cx="73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Из нескольких установок меньшей мощности;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204050" y="183243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718250" y="2301588"/>
            <a:ext cx="678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Из меньшего 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количества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 крупных установок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770475" y="3407650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Режима работы и надежности;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204050" y="240718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204050" y="3494500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04050" y="4060000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881700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80" name="Google Shape;180;p19"/>
          <p:cNvSpPr txBox="1"/>
          <p:nvPr/>
        </p:nvSpPr>
        <p:spPr>
          <a:xfrm>
            <a:off x="659450" y="4595200"/>
            <a:ext cx="750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Универсального варианта не </a:t>
            </a: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существует</a:t>
            </a: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2913050" y="29030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i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Выбор зависит от:</a:t>
            </a:r>
            <a:endParaRPr i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770475" y="3946600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Экономики и удобства обслуживания;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07550" y="3369400"/>
            <a:ext cx="8047500" cy="1082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89" name="Google Shape;189;p20"/>
          <p:cNvSpPr txBox="1"/>
          <p:nvPr/>
        </p:nvSpPr>
        <p:spPr>
          <a:xfrm>
            <a:off x="1085700" y="119275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РЕЖИМЫ РАБОТЫ ГПУ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416600" y="462325"/>
            <a:ext cx="631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Таблица: режимы эксплуатации газопоршневых установок</a:t>
            </a:r>
            <a:endParaRPr i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881700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92" name="Google Shape;192;p20"/>
          <p:cNvSpPr txBox="1"/>
          <p:nvPr/>
        </p:nvSpPr>
        <p:spPr>
          <a:xfrm>
            <a:off x="185700" y="4177450"/>
            <a:ext cx="87726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Для круглосуточной и многолетней эксплуатации используются ГПУ, рассчитанные на режим </a:t>
            </a: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COP (Continuous Operating Power)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Возможность работы в COP определяется </a:t>
            </a: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конструкцией установки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а не 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ее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мощностью.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3" name="Google Shape;193;p20" title="IMG_19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900" y="912500"/>
            <a:ext cx="7994197" cy="30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/>
          <p:nvPr/>
        </p:nvSpPr>
        <p:spPr>
          <a:xfrm>
            <a:off x="0" y="4517195"/>
            <a:ext cx="9144000" cy="338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0" y="672800"/>
            <a:ext cx="3321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00" name="Google Shape;200;p21"/>
          <p:cNvSpPr txBox="1"/>
          <p:nvPr/>
        </p:nvSpPr>
        <p:spPr>
          <a:xfrm>
            <a:off x="1085663" y="22640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ИЗ ЧЕГО СОСТОИТ ГПУ?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8811825" y="672800"/>
            <a:ext cx="3321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02" name="Google Shape;202;p21"/>
          <p:cNvSpPr txBox="1"/>
          <p:nvPr/>
        </p:nvSpPr>
        <p:spPr>
          <a:xfrm>
            <a:off x="0" y="4177450"/>
            <a:ext cx="24282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1"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Газовый контейнер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1"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Генератор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3" name="Google Shape;203;p21" title="IMG_1939.PNG"/>
          <p:cNvPicPr preferRelativeResize="0"/>
          <p:nvPr/>
        </p:nvPicPr>
        <p:blipFill rotWithShape="1">
          <a:blip r:embed="rId4">
            <a:alphaModFix/>
          </a:blip>
          <a:srcRect b="17565" l="0" r="0" t="12869"/>
          <a:stretch/>
        </p:blipFill>
        <p:spPr>
          <a:xfrm>
            <a:off x="568900" y="763100"/>
            <a:ext cx="8006124" cy="35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3771450" y="4177450"/>
            <a:ext cx="31605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1"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утилизации тепла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1"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Системы безопасности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1853775" y="4428700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1"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охдаждения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1"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Газовая система</a:t>
            </a:r>
            <a:endParaRPr sz="1000"/>
          </a:p>
        </p:txBody>
      </p:sp>
      <p:sp>
        <p:nvSpPr>
          <p:cNvPr id="206" name="Google Shape;206;p21"/>
          <p:cNvSpPr txBox="1"/>
          <p:nvPr/>
        </p:nvSpPr>
        <p:spPr>
          <a:xfrm>
            <a:off x="6157500" y="4428700"/>
            <a:ext cx="3411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1"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Контейнер (блок- контейнер)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1"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управления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/>
          <p:nvPr/>
        </p:nvSpPr>
        <p:spPr>
          <a:xfrm>
            <a:off x="607550" y="1640800"/>
            <a:ext cx="7353600" cy="2549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13" name="Google Shape;213;p22"/>
          <p:cNvSpPr txBox="1"/>
          <p:nvPr/>
        </p:nvSpPr>
        <p:spPr>
          <a:xfrm>
            <a:off x="1085700" y="56945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КОНТЕЙНЕРНОЕ ИСПОЛНЕНИЕ - ЧТО ЭТО ЗНАЧИТ?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1386200" y="1135875"/>
            <a:ext cx="631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Контейнерные ГПУ - это готовое </a:t>
            </a: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сертифицированное</a:t>
            </a: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 изделие:</a:t>
            </a:r>
            <a:endParaRPr i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718250" y="1717788"/>
            <a:ext cx="73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Заводская сборка;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204050" y="183243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718250" y="2080650"/>
            <a:ext cx="678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Шумоизоляция;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727350" y="2849575"/>
            <a:ext cx="768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Пожарная и газовая безопасность;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718250" y="2470725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Вентиляция и климат;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204050" y="2578500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204050" y="330898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204050" y="373188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23" name="Google Shape;223;p22"/>
          <p:cNvSpPr/>
          <p:nvPr/>
        </p:nvSpPr>
        <p:spPr>
          <a:xfrm rot="5400000">
            <a:off x="5852850" y="2464350"/>
            <a:ext cx="5169600" cy="2148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881700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25" name="Google Shape;225;p22"/>
          <p:cNvSpPr txBox="1"/>
          <p:nvPr/>
        </p:nvSpPr>
        <p:spPr>
          <a:xfrm>
            <a:off x="530750" y="4387425"/>
            <a:ext cx="750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Это промышленный модуль, а не временное решение.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718250" y="3195588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Системы автоматизации и управления;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718250" y="3618488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Удобство обслуживания;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204050" y="219403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204050" y="296296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/>
          <p:nvPr/>
        </p:nvSpPr>
        <p:spPr>
          <a:xfrm>
            <a:off x="521150" y="2045500"/>
            <a:ext cx="4118100" cy="16683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36" name="Google Shape;236;p23"/>
          <p:cNvSpPr txBox="1"/>
          <p:nvPr/>
        </p:nvSpPr>
        <p:spPr>
          <a:xfrm>
            <a:off x="1085700" y="56945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НАСКОЛЬКО ЭТО БЕЗОПАСНО?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117650" y="1126050"/>
            <a:ext cx="4748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Контейнерные ГПУ:</a:t>
            </a:r>
            <a:endParaRPr i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631850" y="2122488"/>
            <a:ext cx="73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Соответствуют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техническим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 регламентам;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117650" y="223713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631850" y="2485350"/>
            <a:ext cx="678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Оснащены 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пожарной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 автоматикой;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640950" y="3254275"/>
            <a:ext cx="768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Защищены от аварийных режимов;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631850" y="2875425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Имеют 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газоанализ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 и защиту;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117650" y="2983200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881700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45" name="Google Shape;245;p23"/>
          <p:cNvSpPr txBox="1"/>
          <p:nvPr/>
        </p:nvSpPr>
        <p:spPr>
          <a:xfrm>
            <a:off x="0" y="4387425"/>
            <a:ext cx="833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Эксплуатация сопоставима с промышленным оборудованием на заводе.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117650" y="259873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117650" y="336766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pic>
        <p:nvPicPr>
          <p:cNvPr id="248" name="Google Shape;248;p23" title="IMG_194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5700" y="1630425"/>
            <a:ext cx="3529837" cy="26473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23"/>
          <p:cNvCxnSpPr>
            <a:stCxn id="237" idx="3"/>
          </p:cNvCxnSpPr>
          <p:nvPr/>
        </p:nvCxnSpPr>
        <p:spPr>
          <a:xfrm>
            <a:off x="4865750" y="1318500"/>
            <a:ext cx="3841800" cy="0"/>
          </a:xfrm>
          <a:prstGeom prst="straightConnector1">
            <a:avLst/>
          </a:prstGeom>
          <a:noFill/>
          <a:ln cap="flat" cmpd="sng" w="9525">
            <a:solidFill>
              <a:srgbClr val="5EC06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23"/>
          <p:cNvCxnSpPr/>
          <p:nvPr/>
        </p:nvCxnSpPr>
        <p:spPr>
          <a:xfrm>
            <a:off x="8707450" y="1433250"/>
            <a:ext cx="13200" cy="3041700"/>
          </a:xfrm>
          <a:prstGeom prst="straightConnector1">
            <a:avLst/>
          </a:prstGeom>
          <a:noFill/>
          <a:ln cap="flat" cmpd="sng" w="9525">
            <a:solidFill>
              <a:srgbClr val="5EC06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23"/>
          <p:cNvCxnSpPr/>
          <p:nvPr/>
        </p:nvCxnSpPr>
        <p:spPr>
          <a:xfrm rot="10800000">
            <a:off x="8211350" y="4595200"/>
            <a:ext cx="535200" cy="0"/>
          </a:xfrm>
          <a:prstGeom prst="straightConnector1">
            <a:avLst/>
          </a:prstGeom>
          <a:noFill/>
          <a:ln cap="flat" cmpd="sng" w="9525">
            <a:solidFill>
              <a:srgbClr val="5EC06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23"/>
          <p:cNvSpPr/>
          <p:nvPr/>
        </p:nvSpPr>
        <p:spPr>
          <a:xfrm>
            <a:off x="521150" y="1126050"/>
            <a:ext cx="4118100" cy="3849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58" name="Google Shape;258;p24"/>
          <p:cNvSpPr txBox="1"/>
          <p:nvPr/>
        </p:nvSpPr>
        <p:spPr>
          <a:xfrm>
            <a:off x="1085700" y="12195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ЭКОНОМИКА: СКОЛЬКО СТОИТ ЭЛЕКТРОЭНЕРГИЯ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1197575" y="462636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881700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61" name="Google Shape;261;p24"/>
          <p:cNvSpPr txBox="1"/>
          <p:nvPr/>
        </p:nvSpPr>
        <p:spPr>
          <a:xfrm>
            <a:off x="1404900" y="4497675"/>
            <a:ext cx="633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Разница формирует основной </a:t>
            </a: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экономический</a:t>
            </a: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эффект</a:t>
            </a: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2" name="Google Shape;262;p24" title="IMG_19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975" y="641951"/>
            <a:ext cx="8286052" cy="3716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/>
          <p:nvPr/>
        </p:nvSpPr>
        <p:spPr>
          <a:xfrm>
            <a:off x="558000" y="2033000"/>
            <a:ext cx="3905100" cy="17796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69" name="Google Shape;269;p25"/>
          <p:cNvSpPr txBox="1"/>
          <p:nvPr/>
        </p:nvSpPr>
        <p:spPr>
          <a:xfrm>
            <a:off x="1085700" y="56945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ДОПОЛНИТЕЛЬНАЯ ВЫГОДА - ТЕПЛО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1386200" y="1135875"/>
            <a:ext cx="631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При работе ГПУ образуется тепло,которое можно использовать:</a:t>
            </a:r>
            <a:endParaRPr i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668700" y="2109988"/>
            <a:ext cx="73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Для отопления;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154500" y="222463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668700" y="2693788"/>
            <a:ext cx="678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Горячего водоснабжения;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668700" y="3374738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Технологических процессов;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154500" y="279938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154500" y="3477438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881700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78" name="Google Shape;278;p25"/>
          <p:cNvSpPr txBox="1"/>
          <p:nvPr/>
        </p:nvSpPr>
        <p:spPr>
          <a:xfrm>
            <a:off x="454100" y="4432400"/>
            <a:ext cx="857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Это повышает общий КПД системы до 80-90% и ускоряет окупаемость проекта.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9" name="Google Shape;279;p25" title="IMG_19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9600" y="1742975"/>
            <a:ext cx="4415214" cy="22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"/>
          <p:cNvSpPr/>
          <p:nvPr/>
        </p:nvSpPr>
        <p:spPr>
          <a:xfrm>
            <a:off x="607550" y="1681275"/>
            <a:ext cx="5055000" cy="24774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616475" y="1681275"/>
            <a:ext cx="3795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На промышленных предприятиях;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26"/>
          <p:cNvSpPr txBox="1"/>
          <p:nvPr/>
        </p:nvSpPr>
        <p:spPr>
          <a:xfrm>
            <a:off x="616475" y="2265063"/>
            <a:ext cx="678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В 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нефтегазовой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 отрасли;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26"/>
          <p:cNvSpPr txBox="1"/>
          <p:nvPr/>
        </p:nvSpPr>
        <p:spPr>
          <a:xfrm>
            <a:off x="633875" y="2799025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В 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коммерческой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 недвижимости;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633875" y="3309213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В автономных и удаленных зонах;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26"/>
          <p:cNvSpPr txBox="1"/>
          <p:nvPr/>
        </p:nvSpPr>
        <p:spPr>
          <a:xfrm>
            <a:off x="633875" y="3759550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В дата-центрах и инфраструктурных проектах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26"/>
          <p:cNvSpPr/>
          <p:nvPr/>
        </p:nvSpPr>
        <p:spPr>
          <a:xfrm rot="10800000">
            <a:off x="1302550" y="4638450"/>
            <a:ext cx="6516300" cy="302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92" name="Google Shape;292;p26"/>
          <p:cNvSpPr txBox="1"/>
          <p:nvPr/>
        </p:nvSpPr>
        <p:spPr>
          <a:xfrm>
            <a:off x="1085700" y="56945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ГДЕ ПРИМЕНЯЮТСЯ ГПУ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102275" y="179591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94" name="Google Shape;294;p26"/>
          <p:cNvSpPr txBox="1"/>
          <p:nvPr/>
        </p:nvSpPr>
        <p:spPr>
          <a:xfrm>
            <a:off x="1285950" y="4582050"/>
            <a:ext cx="6572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ЭТО МИРОВОЙ СТАНДАРТ РАСПРЕДЕЛЕННОЙ ЭНЕРГЕТИКИ.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102275" y="237066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119675" y="2901725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881700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98" name="Google Shape;298;p26"/>
          <p:cNvSpPr/>
          <p:nvPr/>
        </p:nvSpPr>
        <p:spPr>
          <a:xfrm>
            <a:off x="119675" y="3425825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119675" y="3872950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607550" y="524150"/>
            <a:ext cx="8073900" cy="537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1" name="Google Shape;301;p26" title="sticker 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7125" y="1798725"/>
            <a:ext cx="4584207" cy="196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7"/>
          <p:cNvSpPr/>
          <p:nvPr/>
        </p:nvSpPr>
        <p:spPr>
          <a:xfrm>
            <a:off x="8817051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7">
            <a:hlinkClick r:id="rId4"/>
          </p:cNvPr>
          <p:cNvSpPr txBox="1"/>
          <p:nvPr/>
        </p:nvSpPr>
        <p:spPr>
          <a:xfrm>
            <a:off x="1400800" y="543300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>
                <a:solidFill>
                  <a:srgbClr val="0097A7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@asgardchanel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7"/>
          <p:cNvSpPr txBox="1"/>
          <p:nvPr/>
        </p:nvSpPr>
        <p:spPr>
          <a:xfrm>
            <a:off x="1400800" y="802075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latin typeface="Inter"/>
                <a:ea typeface="Inter"/>
                <a:cs typeface="Inter"/>
                <a:sym typeface="Inter"/>
              </a:rPr>
              <a:t>+7 (916) 772-19-84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27"/>
          <p:cNvSpPr txBox="1"/>
          <p:nvPr/>
        </p:nvSpPr>
        <p:spPr>
          <a:xfrm>
            <a:off x="6496250" y="543300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+7 (800) 550-07-32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27"/>
          <p:cNvSpPr txBox="1"/>
          <p:nvPr/>
        </p:nvSpPr>
        <p:spPr>
          <a:xfrm>
            <a:off x="6496250" y="802075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info@asg-ard.ru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27"/>
          <p:cNvSpPr txBox="1"/>
          <p:nvPr/>
        </p:nvSpPr>
        <p:spPr>
          <a:xfrm>
            <a:off x="3966475" y="887325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asg-mining.ru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3" name="Google Shape;313;p27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59625" y="882012"/>
            <a:ext cx="162676" cy="16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7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91400" y="623300"/>
            <a:ext cx="162676" cy="16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7">
            <a:hlinkClick r:id="rId13"/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421375" y="623304"/>
            <a:ext cx="162676" cy="162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7">
            <a:hlinkClick r:id="rId15"/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054225" y="985202"/>
            <a:ext cx="162676" cy="16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7">
            <a:hlinkClick r:id="rId17"/>
          </p:cNvPr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291400" y="882000"/>
            <a:ext cx="162676" cy="16267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7"/>
          <p:cNvSpPr/>
          <p:nvPr/>
        </p:nvSpPr>
        <p:spPr>
          <a:xfrm>
            <a:off x="910813" y="303662"/>
            <a:ext cx="7322400" cy="978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319" name="Google Shape;319;p27" title="Group_214_s 2 (3).png"/>
          <p:cNvPicPr preferRelativeResize="0"/>
          <p:nvPr/>
        </p:nvPicPr>
        <p:blipFill rotWithShape="1">
          <a:blip r:embed="rId19">
            <a:alphaModFix/>
          </a:blip>
          <a:srcRect b="0" l="19348" r="0" t="0"/>
          <a:stretch/>
        </p:blipFill>
        <p:spPr>
          <a:xfrm>
            <a:off x="4047450" y="623300"/>
            <a:ext cx="1049113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 txBox="1"/>
          <p:nvPr/>
        </p:nvSpPr>
        <p:spPr>
          <a:xfrm>
            <a:off x="1085700" y="1397175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РОЛЬ МАЙНИНГА В ЭНЕРГЕТИКЕ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6143838" y="3215738"/>
            <a:ext cx="151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EC06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429275" y="5416575"/>
            <a:ext cx="8139000" cy="24774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866800" y="2092875"/>
            <a:ext cx="33501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ASGard Mining Solutions не является поставщиком оборудования для майнинга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27"/>
          <p:cNvSpPr txBox="1"/>
          <p:nvPr/>
        </p:nvSpPr>
        <p:spPr>
          <a:xfrm>
            <a:off x="5135400" y="2099975"/>
            <a:ext cx="3530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ASGard Mining Solutions - это комплексный энергетический интегратор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429275" y="2292225"/>
            <a:ext cx="444000" cy="446400"/>
          </a:xfrm>
          <a:prstGeom prst="mathMultiply">
            <a:avLst>
              <a:gd fmla="val 23520" name="adj1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326" name="Google Shape;326;p27"/>
          <p:cNvSpPr/>
          <p:nvPr/>
        </p:nvSpPr>
        <p:spPr>
          <a:xfrm rot="-8220693">
            <a:off x="8314497" y="2265732"/>
            <a:ext cx="320305" cy="300786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162469" y="2026425"/>
            <a:ext cx="3714600" cy="978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5043294" y="2014725"/>
            <a:ext cx="3714600" cy="978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329" name="Google Shape;329;p27"/>
          <p:cNvCxnSpPr/>
          <p:nvPr/>
        </p:nvCxnSpPr>
        <p:spPr>
          <a:xfrm>
            <a:off x="4094638" y="2292225"/>
            <a:ext cx="731100" cy="0"/>
          </a:xfrm>
          <a:prstGeom prst="straightConnector1">
            <a:avLst/>
          </a:prstGeom>
          <a:noFill/>
          <a:ln cap="flat" cmpd="sng" w="9525">
            <a:solidFill>
              <a:srgbClr val="5EC06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4094625" y="2791875"/>
            <a:ext cx="731100" cy="0"/>
          </a:xfrm>
          <a:prstGeom prst="straightConnector1">
            <a:avLst/>
          </a:prstGeom>
          <a:noFill/>
          <a:ln cap="flat" cmpd="sng" w="9525">
            <a:solidFill>
              <a:srgbClr val="5EC06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" name="Google Shape;331;p27"/>
          <p:cNvSpPr txBox="1"/>
          <p:nvPr/>
        </p:nvSpPr>
        <p:spPr>
          <a:xfrm>
            <a:off x="1632175" y="3490575"/>
            <a:ext cx="6105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700">
                <a:latin typeface="Montserrat"/>
                <a:ea typeface="Montserrat"/>
                <a:cs typeface="Montserrat"/>
                <a:sym typeface="Montserrat"/>
              </a:rPr>
              <a:t>МАЙНИНГ РАССМАТРИВАЕТСЯ КАК ИНСТРУМЕНТ:</a:t>
            </a:r>
            <a:endParaRPr i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27"/>
          <p:cNvSpPr txBox="1"/>
          <p:nvPr/>
        </p:nvSpPr>
        <p:spPr>
          <a:xfrm>
            <a:off x="40588" y="4122438"/>
            <a:ext cx="37959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диверсификация потребления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источник валютной выручки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27"/>
          <p:cNvSpPr txBox="1"/>
          <p:nvPr/>
        </p:nvSpPr>
        <p:spPr>
          <a:xfrm>
            <a:off x="3529450" y="4123000"/>
            <a:ext cx="55740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балансир энергосистемы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использование свободных и избыточных мощностей</a:t>
            </a:r>
            <a:endParaRPr/>
          </a:p>
        </p:txBody>
      </p:sp>
      <p:sp>
        <p:nvSpPr>
          <p:cNvPr id="334" name="Google Shape;334;p27"/>
          <p:cNvSpPr/>
          <p:nvPr/>
        </p:nvSpPr>
        <p:spPr>
          <a:xfrm>
            <a:off x="1209238" y="3634725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335" name="Google Shape;335;p27"/>
          <p:cNvSpPr/>
          <p:nvPr/>
        </p:nvSpPr>
        <p:spPr>
          <a:xfrm>
            <a:off x="162475" y="4014700"/>
            <a:ext cx="8819100" cy="978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41" name="Google Shape;341;p28"/>
          <p:cNvSpPr txBox="1"/>
          <p:nvPr/>
        </p:nvSpPr>
        <p:spPr>
          <a:xfrm>
            <a:off x="1085700" y="34150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РЕАЛЬНЫЙ КЕЙС: СЕТЬ И ГАЗ В МАЙНИНГЕ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28"/>
          <p:cNvSpPr/>
          <p:nvPr/>
        </p:nvSpPr>
        <p:spPr>
          <a:xfrm rot="-10799657">
            <a:off x="1469175" y="4704575"/>
            <a:ext cx="6011100" cy="2889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8"/>
          <p:cNvSpPr/>
          <p:nvPr/>
        </p:nvSpPr>
        <p:spPr>
          <a:xfrm>
            <a:off x="881700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44" name="Google Shape;344;p28"/>
          <p:cNvSpPr txBox="1"/>
          <p:nvPr/>
        </p:nvSpPr>
        <p:spPr>
          <a:xfrm>
            <a:off x="1469175" y="4641275"/>
            <a:ext cx="610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ЭТО ЧИСТАЯ ЭКОНОМИЯ, А НЕ РОСТ ДОХОДНОСТИ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1085688" y="4769975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pic>
        <p:nvPicPr>
          <p:cNvPr id="346" name="Google Shape;346;p28" title="IMG_19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00" y="787900"/>
            <a:ext cx="8185202" cy="3634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"/>
          <p:cNvSpPr/>
          <p:nvPr/>
        </p:nvSpPr>
        <p:spPr>
          <a:xfrm>
            <a:off x="607550" y="524150"/>
            <a:ext cx="8073900" cy="537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607550" y="1840700"/>
            <a:ext cx="8073900" cy="17493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29"/>
          <p:cNvSpPr txBox="1"/>
          <p:nvPr/>
        </p:nvSpPr>
        <p:spPr>
          <a:xfrm>
            <a:off x="616475" y="1942375"/>
            <a:ext cx="3795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ASIC у всех одинаковые;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616475" y="2526163"/>
            <a:ext cx="678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Биткойн у всех одинаковый;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29"/>
          <p:cNvSpPr txBox="1"/>
          <p:nvPr/>
        </p:nvSpPr>
        <p:spPr>
          <a:xfrm>
            <a:off x="633875" y="3060125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Сложность сети у всех 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одинаковая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29"/>
          <p:cNvSpPr/>
          <p:nvPr/>
        </p:nvSpPr>
        <p:spPr>
          <a:xfrm rot="10800000">
            <a:off x="1386350" y="4138326"/>
            <a:ext cx="6516300" cy="7584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9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58" name="Google Shape;358;p29"/>
          <p:cNvSpPr txBox="1"/>
          <p:nvPr/>
        </p:nvSpPr>
        <p:spPr>
          <a:xfrm>
            <a:off x="1085700" y="56945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ПОЧЕМУ ЭТО КРИТИЧНО В 2026 ГОДУ?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102275" y="205701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1647750" y="4149425"/>
            <a:ext cx="58485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Char char="●"/>
            </a:pPr>
            <a:r>
              <a:rPr b="1" i="1" lang="ru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Разницу делает цена киловатта.  Именно она определяет какой именно будет доход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102275" y="263176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119675" y="3162825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881700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364" name="Google Shape;364;p29" title="Group_214_s 2 (3).png"/>
          <p:cNvPicPr preferRelativeResize="0"/>
          <p:nvPr/>
        </p:nvPicPr>
        <p:blipFill rotWithShape="1">
          <a:blip r:embed="rId4">
            <a:alphaModFix/>
          </a:blip>
          <a:srcRect b="0" l="19348" r="0" t="0"/>
          <a:stretch/>
        </p:blipFill>
        <p:spPr>
          <a:xfrm>
            <a:off x="6222950" y="2522535"/>
            <a:ext cx="1901947" cy="614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0"/>
          <p:cNvSpPr/>
          <p:nvPr/>
        </p:nvSpPr>
        <p:spPr>
          <a:xfrm>
            <a:off x="620600" y="1724800"/>
            <a:ext cx="8073900" cy="22095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0" name="Google Shape;370;p30"/>
          <p:cNvSpPr txBox="1"/>
          <p:nvPr/>
        </p:nvSpPr>
        <p:spPr>
          <a:xfrm>
            <a:off x="629525" y="1826475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Заказчик не инвестирует в оборудование;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30"/>
          <p:cNvSpPr txBox="1"/>
          <p:nvPr/>
        </p:nvSpPr>
        <p:spPr>
          <a:xfrm>
            <a:off x="629525" y="2410263"/>
            <a:ext cx="678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Мы проектируем, строим и обслуживаем ГПЭС;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30"/>
          <p:cNvSpPr txBox="1"/>
          <p:nvPr/>
        </p:nvSpPr>
        <p:spPr>
          <a:xfrm>
            <a:off x="646925" y="2944225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Продаем электроэнергию со скидкой 10-20%;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30"/>
          <p:cNvSpPr/>
          <p:nvPr/>
        </p:nvSpPr>
        <p:spPr>
          <a:xfrm rot="10800000">
            <a:off x="1831725" y="4498050"/>
            <a:ext cx="5635500" cy="44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0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75" name="Google Shape;375;p30"/>
          <p:cNvSpPr txBox="1"/>
          <p:nvPr/>
        </p:nvSpPr>
        <p:spPr>
          <a:xfrm>
            <a:off x="1055300" y="569450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ЭНЕРГОСЕРВИСНЫЙ КОНТРАКТ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30"/>
          <p:cNvSpPr/>
          <p:nvPr/>
        </p:nvSpPr>
        <p:spPr>
          <a:xfrm>
            <a:off x="115325" y="194111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377" name="Google Shape;377;p30"/>
          <p:cNvSpPr txBox="1"/>
          <p:nvPr/>
        </p:nvSpPr>
        <p:spPr>
          <a:xfrm>
            <a:off x="1264050" y="4512150"/>
            <a:ext cx="66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b="1" i="1"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 ПОЛУЧАЕТЕ ДЕШЕВУЮ ЭНЕРГИЮ БЕЗ CAPEX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30"/>
          <p:cNvSpPr/>
          <p:nvPr/>
        </p:nvSpPr>
        <p:spPr>
          <a:xfrm>
            <a:off x="115325" y="251586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379" name="Google Shape;379;p30"/>
          <p:cNvSpPr/>
          <p:nvPr/>
        </p:nvSpPr>
        <p:spPr>
          <a:xfrm>
            <a:off x="132725" y="3046925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881700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81" name="Google Shape;381;p30"/>
          <p:cNvSpPr txBox="1"/>
          <p:nvPr/>
        </p:nvSpPr>
        <p:spPr>
          <a:xfrm>
            <a:off x="1386200" y="1135875"/>
            <a:ext cx="6615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Сегодня компании сталкиваются с одними и теми же проблемами:</a:t>
            </a:r>
            <a:endParaRPr i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30"/>
          <p:cNvSpPr txBox="1"/>
          <p:nvPr/>
        </p:nvSpPr>
        <p:spPr>
          <a:xfrm>
            <a:off x="646925" y="3549288"/>
            <a:ext cx="50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Все технические риски - на нас;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30"/>
          <p:cNvSpPr/>
          <p:nvPr/>
        </p:nvSpPr>
        <p:spPr>
          <a:xfrm>
            <a:off x="132725" y="3662700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pic>
        <p:nvPicPr>
          <p:cNvPr id="384" name="Google Shape;384;p30" title="Group_214_s 2 (3).png"/>
          <p:cNvPicPr preferRelativeResize="0"/>
          <p:nvPr/>
        </p:nvPicPr>
        <p:blipFill rotWithShape="1">
          <a:blip r:embed="rId4">
            <a:alphaModFix/>
          </a:blip>
          <a:srcRect b="0" l="19348" r="0" t="0"/>
          <a:stretch/>
        </p:blipFill>
        <p:spPr>
          <a:xfrm>
            <a:off x="6222950" y="2522535"/>
            <a:ext cx="1901947" cy="614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1"/>
          <p:cNvSpPr txBox="1"/>
          <p:nvPr/>
        </p:nvSpPr>
        <p:spPr>
          <a:xfrm>
            <a:off x="2806000" y="4718075"/>
            <a:ext cx="30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 u="sng">
                <a:solidFill>
                  <a:srgbClr val="5EC062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Москва, 2-й Кабельный проезд, 2А</a:t>
            </a:r>
            <a:endParaRPr b="1" sz="1200">
              <a:solidFill>
                <a:srgbClr val="5EC0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0" name="Google Shape;390;p31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96020" y="4847739"/>
            <a:ext cx="109971" cy="109971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1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1"/>
          <p:cNvSpPr/>
          <p:nvPr/>
        </p:nvSpPr>
        <p:spPr>
          <a:xfrm>
            <a:off x="8817051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1">
            <a:hlinkClick r:id="rId7"/>
          </p:cNvPr>
          <p:cNvSpPr txBox="1"/>
          <p:nvPr/>
        </p:nvSpPr>
        <p:spPr>
          <a:xfrm>
            <a:off x="1400800" y="371300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>
                <a:solidFill>
                  <a:srgbClr val="0097A7"/>
                </a:solidFill>
                <a:latin typeface="Inter"/>
                <a:ea typeface="Inter"/>
                <a:cs typeface="Inter"/>
                <a:sym typeface="Inter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@asgardchanel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31"/>
          <p:cNvSpPr txBox="1"/>
          <p:nvPr/>
        </p:nvSpPr>
        <p:spPr>
          <a:xfrm>
            <a:off x="1400800" y="630075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latin typeface="Inter"/>
                <a:ea typeface="Inter"/>
                <a:cs typeface="Inter"/>
                <a:sym typeface="Inter"/>
              </a:rPr>
              <a:t>+7 (916) 772-19-84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31"/>
          <p:cNvSpPr txBox="1"/>
          <p:nvPr/>
        </p:nvSpPr>
        <p:spPr>
          <a:xfrm>
            <a:off x="6496250" y="371300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+7 (800) 550-07-32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p31"/>
          <p:cNvSpPr txBox="1"/>
          <p:nvPr/>
        </p:nvSpPr>
        <p:spPr>
          <a:xfrm>
            <a:off x="6496250" y="630075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info@asg-ard.ru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7" name="Google Shape;397;p31"/>
          <p:cNvSpPr txBox="1"/>
          <p:nvPr/>
        </p:nvSpPr>
        <p:spPr>
          <a:xfrm>
            <a:off x="3966475" y="715325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asg-mining.ru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8" name="Google Shape;398;p31">
            <a:hlinkClick r:id="rId12"/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659625" y="710012"/>
            <a:ext cx="162676" cy="16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1">
            <a:hlinkClick r:id="rId14"/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291400" y="451300"/>
            <a:ext cx="162676" cy="16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1">
            <a:hlinkClick r:id="rId16"/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421375" y="451304"/>
            <a:ext cx="162676" cy="162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1">
            <a:hlinkClick r:id="rId18"/>
          </p:cNvPr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054225" y="813202"/>
            <a:ext cx="162676" cy="16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1">
            <a:hlinkClick r:id="rId20"/>
          </p:cNvPr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291400" y="710000"/>
            <a:ext cx="162676" cy="162676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1"/>
          <p:cNvSpPr/>
          <p:nvPr/>
        </p:nvSpPr>
        <p:spPr>
          <a:xfrm>
            <a:off x="910813" y="131662"/>
            <a:ext cx="7322400" cy="978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404" name="Google Shape;404;p31" title="Group_214_s 2 (3).png"/>
          <p:cNvPicPr preferRelativeResize="0"/>
          <p:nvPr/>
        </p:nvPicPr>
        <p:blipFill rotWithShape="1">
          <a:blip r:embed="rId22">
            <a:alphaModFix/>
          </a:blip>
          <a:srcRect b="0" l="19348" r="0" t="0"/>
          <a:stretch/>
        </p:blipFill>
        <p:spPr>
          <a:xfrm>
            <a:off x="4047450" y="451300"/>
            <a:ext cx="1049113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1"/>
          <p:cNvSpPr txBox="1"/>
          <p:nvPr/>
        </p:nvSpPr>
        <p:spPr>
          <a:xfrm>
            <a:off x="1085725" y="1288925"/>
            <a:ext cx="69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О КОМПАНИИ ASGard Mining Solutions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31"/>
          <p:cNvSpPr txBox="1"/>
          <p:nvPr/>
        </p:nvSpPr>
        <p:spPr>
          <a:xfrm>
            <a:off x="6498938" y="3024650"/>
            <a:ext cx="151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EC06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07" name="Google Shape;407;p31"/>
          <p:cNvSpPr/>
          <p:nvPr/>
        </p:nvSpPr>
        <p:spPr>
          <a:xfrm>
            <a:off x="-1529550" y="2698613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-1512150" y="3229675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409" name="Google Shape;409;p31"/>
          <p:cNvSpPr txBox="1"/>
          <p:nvPr/>
        </p:nvSpPr>
        <p:spPr>
          <a:xfrm>
            <a:off x="5155775" y="2372788"/>
            <a:ext cx="5055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Поставка оборудования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Подключение и пуско-наладка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Обслуживание и сервис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-1512150" y="3845450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411" name="Google Shape;411;p31"/>
          <p:cNvSpPr txBox="1"/>
          <p:nvPr/>
        </p:nvSpPr>
        <p:spPr>
          <a:xfrm>
            <a:off x="1264075" y="1715988"/>
            <a:ext cx="6615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Мы выполняем полный цикл:</a:t>
            </a:r>
            <a:endParaRPr i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p31"/>
          <p:cNvSpPr txBox="1"/>
          <p:nvPr/>
        </p:nvSpPr>
        <p:spPr>
          <a:xfrm>
            <a:off x="223500" y="2402538"/>
            <a:ext cx="5055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Строительство и монтаж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Проектирование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Экономический расчет и ТЭО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p31"/>
          <p:cNvSpPr/>
          <p:nvPr/>
        </p:nvSpPr>
        <p:spPr>
          <a:xfrm>
            <a:off x="223494" y="2354425"/>
            <a:ext cx="3714600" cy="978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14" name="Google Shape;414;p31"/>
          <p:cNvSpPr/>
          <p:nvPr/>
        </p:nvSpPr>
        <p:spPr>
          <a:xfrm>
            <a:off x="5096569" y="2354413"/>
            <a:ext cx="3714600" cy="978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15" name="Google Shape;415;p31"/>
          <p:cNvSpPr/>
          <p:nvPr/>
        </p:nvSpPr>
        <p:spPr>
          <a:xfrm>
            <a:off x="3065750" y="1829400"/>
            <a:ext cx="3270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416" name="Google Shape;416;p31"/>
          <p:cNvSpPr/>
          <p:nvPr/>
        </p:nvSpPr>
        <p:spPr>
          <a:xfrm rot="10800000">
            <a:off x="2256775" y="3924163"/>
            <a:ext cx="4856400" cy="325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1"/>
          <p:cNvSpPr txBox="1"/>
          <p:nvPr/>
        </p:nvSpPr>
        <p:spPr>
          <a:xfrm>
            <a:off x="2368375" y="3879163"/>
            <a:ext cx="463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Один </a:t>
            </a:r>
            <a:r>
              <a:rPr b="1" i="1"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подрядчик</a:t>
            </a:r>
            <a:r>
              <a:rPr b="1" i="1"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одна отвественность.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2"/>
          <p:cNvSpPr txBox="1"/>
          <p:nvPr/>
        </p:nvSpPr>
        <p:spPr>
          <a:xfrm>
            <a:off x="3081363" y="4674325"/>
            <a:ext cx="30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 u="sng">
                <a:solidFill>
                  <a:srgbClr val="5EC062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Москва, 2-й Кабельный проезд, 2А</a:t>
            </a:r>
            <a:endParaRPr b="1" sz="1200">
              <a:solidFill>
                <a:srgbClr val="5EC0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3" name="Google Shape;423;p32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71382" y="4803989"/>
            <a:ext cx="109971" cy="10997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2"/>
          <p:cNvSpPr/>
          <p:nvPr/>
        </p:nvSpPr>
        <p:spPr>
          <a:xfrm>
            <a:off x="0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2"/>
          <p:cNvSpPr/>
          <p:nvPr/>
        </p:nvSpPr>
        <p:spPr>
          <a:xfrm>
            <a:off x="8817051" y="672799"/>
            <a:ext cx="327000" cy="2397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2">
            <a:hlinkClick r:id="rId7"/>
          </p:cNvPr>
          <p:cNvSpPr txBox="1"/>
          <p:nvPr/>
        </p:nvSpPr>
        <p:spPr>
          <a:xfrm>
            <a:off x="1400800" y="371300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>
                <a:solidFill>
                  <a:srgbClr val="0097A7"/>
                </a:solidFill>
                <a:latin typeface="Inter"/>
                <a:ea typeface="Inter"/>
                <a:cs typeface="Inter"/>
                <a:sym typeface="Inter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@asgardchanel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7" name="Google Shape;427;p32"/>
          <p:cNvSpPr txBox="1"/>
          <p:nvPr/>
        </p:nvSpPr>
        <p:spPr>
          <a:xfrm>
            <a:off x="1400800" y="630075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latin typeface="Inter"/>
                <a:ea typeface="Inter"/>
                <a:cs typeface="Inter"/>
                <a:sym typeface="Inter"/>
              </a:rPr>
              <a:t>+7 (916) 772-19-84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6496250" y="371300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+7 (800) 550-07-32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32"/>
          <p:cNvSpPr txBox="1"/>
          <p:nvPr/>
        </p:nvSpPr>
        <p:spPr>
          <a:xfrm>
            <a:off x="6496250" y="630075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info@asg-ard.ru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32"/>
          <p:cNvSpPr txBox="1"/>
          <p:nvPr/>
        </p:nvSpPr>
        <p:spPr>
          <a:xfrm>
            <a:off x="3966475" y="715325"/>
            <a:ext cx="14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EC06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asg-mining.ru</a:t>
            </a:r>
            <a:endParaRPr sz="1000">
              <a:solidFill>
                <a:srgbClr val="5EC0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1" name="Google Shape;431;p32">
            <a:hlinkClick r:id="rId12"/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659625" y="710012"/>
            <a:ext cx="162676" cy="16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2">
            <a:hlinkClick r:id="rId14"/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291400" y="451300"/>
            <a:ext cx="162676" cy="16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2">
            <a:hlinkClick r:id="rId16"/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421375" y="451304"/>
            <a:ext cx="162676" cy="162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2">
            <a:hlinkClick r:id="rId18"/>
          </p:cNvPr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054225" y="813202"/>
            <a:ext cx="162676" cy="16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2">
            <a:hlinkClick r:id="rId20"/>
          </p:cNvPr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291400" y="710000"/>
            <a:ext cx="162676" cy="16267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2"/>
          <p:cNvSpPr/>
          <p:nvPr/>
        </p:nvSpPr>
        <p:spPr>
          <a:xfrm>
            <a:off x="910813" y="131662"/>
            <a:ext cx="7322400" cy="978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437" name="Google Shape;437;p32" title="Group_214_s 2 (3).png"/>
          <p:cNvPicPr preferRelativeResize="0"/>
          <p:nvPr/>
        </p:nvPicPr>
        <p:blipFill rotWithShape="1">
          <a:blip r:embed="rId22">
            <a:alphaModFix/>
          </a:blip>
          <a:srcRect b="0" l="19348" r="0" t="0"/>
          <a:stretch/>
        </p:blipFill>
        <p:spPr>
          <a:xfrm>
            <a:off x="4047450" y="451300"/>
            <a:ext cx="1049113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2"/>
          <p:cNvSpPr txBox="1"/>
          <p:nvPr/>
        </p:nvSpPr>
        <p:spPr>
          <a:xfrm>
            <a:off x="2294463" y="1474938"/>
            <a:ext cx="3682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latin typeface="Montserrat"/>
                <a:ea typeface="Montserrat"/>
                <a:cs typeface="Montserrat"/>
                <a:sym typeface="Montserrat"/>
              </a:rPr>
              <a:t>СЛЕДУЮЩИЙ ШАГ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32"/>
          <p:cNvSpPr txBox="1"/>
          <p:nvPr/>
        </p:nvSpPr>
        <p:spPr>
          <a:xfrm>
            <a:off x="2388647" y="1901989"/>
            <a:ext cx="3493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Для подготовки </a:t>
            </a: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решения:</a:t>
            </a:r>
            <a:endParaRPr i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32"/>
          <p:cNvSpPr txBox="1"/>
          <p:nvPr/>
        </p:nvSpPr>
        <p:spPr>
          <a:xfrm>
            <a:off x="2157475" y="2444575"/>
            <a:ext cx="5055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Выполняется запись на встречу;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Выполняется 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расчет</a:t>
            </a: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b="1" lang="ru" sz="1300">
                <a:latin typeface="Montserrat"/>
                <a:ea typeface="Montserrat"/>
                <a:cs typeface="Montserrat"/>
                <a:sym typeface="Montserrat"/>
              </a:rPr>
              <a:t>Подбирается оптимальная конфигурация.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32"/>
          <p:cNvSpPr/>
          <p:nvPr/>
        </p:nvSpPr>
        <p:spPr>
          <a:xfrm>
            <a:off x="2799733" y="2015398"/>
            <a:ext cx="172500" cy="1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C062"/>
          </a:solidFill>
          <a:ln cap="flat" cmpd="sng" w="9525">
            <a:solidFill>
              <a:srgbClr val="5EC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EC062"/>
              </a:solidFill>
            </a:endParaRPr>
          </a:p>
        </p:txBody>
      </p:sp>
      <p:sp>
        <p:nvSpPr>
          <p:cNvPr id="442" name="Google Shape;442;p32"/>
          <p:cNvSpPr/>
          <p:nvPr/>
        </p:nvSpPr>
        <p:spPr>
          <a:xfrm rot="10800000">
            <a:off x="2891475" y="3447350"/>
            <a:ext cx="3380100" cy="517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2"/>
          <p:cNvSpPr txBox="1"/>
          <p:nvPr/>
        </p:nvSpPr>
        <p:spPr>
          <a:xfrm>
            <a:off x="3398775" y="3498350"/>
            <a:ext cx="236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5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3"/>
              </a:rPr>
              <a:t>ОСТАВИТЬ ЗАЯВКУ</a:t>
            </a:r>
            <a:endParaRPr b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32"/>
          <p:cNvSpPr/>
          <p:nvPr/>
        </p:nvSpPr>
        <p:spPr>
          <a:xfrm rot="10800000">
            <a:off x="2891475" y="4039713"/>
            <a:ext cx="3380100" cy="517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2"/>
          <p:cNvSpPr txBox="1"/>
          <p:nvPr/>
        </p:nvSpPr>
        <p:spPr>
          <a:xfrm>
            <a:off x="3078275" y="4090713"/>
            <a:ext cx="300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5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4"/>
              </a:rPr>
              <a:t>ЗАПИСАТЬСЯ НА ВСТРЕЧУ</a:t>
            </a:r>
            <a:endParaRPr b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